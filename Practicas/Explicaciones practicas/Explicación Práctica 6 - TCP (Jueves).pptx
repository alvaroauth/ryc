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comments+xml" PartName="/ppt/comments/comment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y="5143500" cx="9144000"/>
  <p:notesSz cx="6858000" cy="9144000"/>
  <p:embeddedFontLst>
    <p:embeddedFont>
      <p:font typeface="Inter"/>
      <p:regular r:id="rId19"/>
      <p:bold r:id="rId20"/>
      <p:italic r:id="rId21"/>
      <p:boldItalic r:id="rId22"/>
    </p:embeddedFont>
    <p:embeddedFont>
      <p:font typeface="Fira Code"/>
      <p:regular r:id="rId23"/>
      <p:bold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6" name="Ignacio Traberg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11" Type="http://schemas.openxmlformats.org/officeDocument/2006/relationships/slide" Target="slides/slide4.xml"/><Relationship Id="rId22" Type="http://schemas.openxmlformats.org/officeDocument/2006/relationships/font" Target="fonts/Inter-boldItalic.fntdata"/><Relationship Id="rId10" Type="http://schemas.openxmlformats.org/officeDocument/2006/relationships/slide" Target="slides/slide3.xml"/><Relationship Id="rId21" Type="http://schemas.openxmlformats.org/officeDocument/2006/relationships/font" Target="fonts/Inter-italic.fntdata"/><Relationship Id="rId13" Type="http://schemas.openxmlformats.org/officeDocument/2006/relationships/slide" Target="slides/slide6.xml"/><Relationship Id="rId24" Type="http://schemas.openxmlformats.org/officeDocument/2006/relationships/font" Target="fonts/FiraCode-bold.fntdata"/><Relationship Id="rId12" Type="http://schemas.openxmlformats.org/officeDocument/2006/relationships/slide" Target="slides/slide5.xml"/><Relationship Id="rId23" Type="http://schemas.openxmlformats.org/officeDocument/2006/relationships/font" Target="fonts/FiraCode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commentAuthors" Target="commentAuthor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font" Target="fonts/Inter-regular.fntdata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6-10-09T14:41:25.808">
    <p:pos x="404" y="490"/>
    <p:text>C: 1000 , S: 8000. El MSS indica el tamaño máximo del segmento.</p:text>
  </p:cm>
  <p:cm authorId="0" idx="2" dt="2026-10-09T14:41:35.559">
    <p:pos x="404" y="590"/>
    <p:text>hay pérdida de datos, y ack duplicados. Retransmisión</p:text>
  </p:cm>
  <p:cm authorId="0" idx="3" dt="2026-10-09T14:42:09.851">
    <p:pos x="404" y="690"/>
    <p:text>Reconoce todos los segmentos hasta donde ya recibió.</p:text>
  </p:cm>
</p:cmLst>
</file>

<file path=ppt/comments/comment2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4" dt="2026-10-09T14:41:25.808">
    <p:pos x="404" y="490"/>
    <p:text>C: 1000 , S: 8000. El MSS indica el tamaño máximo del segmento.</p:text>
  </p:cm>
  <p:cm authorId="0" idx="5" dt="2026-10-09T14:41:35.559">
    <p:pos x="404" y="590"/>
    <p:text>hay pérdida de datos, y ack duplicados. Retransmisión</p:text>
  </p:cm>
  <p:cm authorId="0" idx="6" dt="2026-10-09T14:42:09.851">
    <p:pos x="404" y="690"/>
    <p:text>Reconoce todos los segmentos hasta donde ya recibió.</p:tex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7bddd088cc6ae1e1_3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h7bddd088cc6ae1e1_3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h7bddd088cc6ae1e1_3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h7bddd088cc6ae1e1_3_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7bddd088cc6ae1e1_3_1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h7bddd088cc6ae1e1_3_1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h7bddd088cc6ae1e1_3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h7bddd088cc6ae1e1_3_14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h7bddd088cc6ae1e1_3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h7bddd088cc6ae1e1_3_16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h7bddd088cc6ae1e1_3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h7bddd088cc6ae1e1_3_18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h7bddd088cc6ae1e1_3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h7bddd088cc6ae1e1_3_2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h7bddd088cc6ae1e1_3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h7bddd088cc6ae1e1_3_2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h7bddd088cc6ae1e1_3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h7bddd088cc6ae1e1_3_27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h7bddd088cc6ae1e1_11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h7bddd088cc6ae1e1_11_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2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h289d391e8ea794d1_9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4" name="Google Shape;374;h289d391e8ea794d1_9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comments" Target="../comments/comment1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comments" Target="../comments/comment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F172A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2641522" y="1028127"/>
            <a:ext cx="3861000" cy="479400"/>
          </a:xfrm>
          <a:prstGeom prst="roundRect">
            <a:avLst>
              <a:gd fmla="val 50000" name="adj"/>
            </a:avLst>
          </a:prstGeom>
          <a:gradFill>
            <a:gsLst>
              <a:gs pos="0">
                <a:srgbClr val="2C68B2"/>
              </a:gs>
              <a:gs pos="100000">
                <a:srgbClr val="162B46"/>
              </a:gs>
            </a:gsLst>
            <a:lin ang="5400012" scaled="0"/>
          </a:gradFill>
          <a:ln>
            <a:noFill/>
          </a:ln>
        </p:spPr>
        <p:txBody>
          <a:bodyPr anchorCtr="0" anchor="ctr" bIns="63875" lIns="127800" spcFirstLastPara="1" rIns="127800" wrap="square" tIns="638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60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1293076" y="2927085"/>
            <a:ext cx="1781100" cy="408000"/>
          </a:xfrm>
          <a:prstGeom prst="roundRect">
            <a:avLst>
              <a:gd fmla="val 19512" name="adj"/>
            </a:avLst>
          </a:prstGeom>
          <a:solidFill>
            <a:srgbClr val="7A001E"/>
          </a:solidFill>
          <a:ln>
            <a:noFill/>
          </a:ln>
        </p:spPr>
        <p:txBody>
          <a:bodyPr anchorCtr="0" anchor="ctr" bIns="47750" lIns="95525" spcFirstLastPara="1" rIns="95525" wrap="square" tIns="47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/>
          <p:nvPr/>
        </p:nvSpPr>
        <p:spPr>
          <a:xfrm>
            <a:off x="3233562" y="2927085"/>
            <a:ext cx="2348700" cy="408000"/>
          </a:xfrm>
          <a:prstGeom prst="roundRect">
            <a:avLst>
              <a:gd fmla="val 19512" name="adj"/>
            </a:avLst>
          </a:prstGeom>
          <a:solidFill>
            <a:srgbClr val="7A001E"/>
          </a:solidFill>
          <a:ln>
            <a:noFill/>
          </a:ln>
        </p:spPr>
        <p:txBody>
          <a:bodyPr anchorCtr="0" anchor="ctr" bIns="47750" lIns="95525" spcFirstLastPara="1" rIns="95525" wrap="square" tIns="47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25"/>
          <p:cNvSpPr/>
          <p:nvPr/>
        </p:nvSpPr>
        <p:spPr>
          <a:xfrm>
            <a:off x="5741269" y="2927085"/>
            <a:ext cx="2109600" cy="408000"/>
          </a:xfrm>
          <a:prstGeom prst="roundRect">
            <a:avLst>
              <a:gd fmla="val 19512" name="adj"/>
            </a:avLst>
          </a:prstGeom>
          <a:solidFill>
            <a:srgbClr val="7A001E"/>
          </a:solidFill>
          <a:ln>
            <a:noFill/>
          </a:ln>
        </p:spPr>
        <p:txBody>
          <a:bodyPr anchorCtr="0" anchor="ctr" bIns="47750" lIns="95525" spcFirstLastPara="1" rIns="95525" wrap="square" tIns="477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2478429" y="1134636"/>
            <a:ext cx="4186800" cy="25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677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</a:t>
            </a:r>
            <a:r>
              <a:rPr b="1" i="0" lang="es" sz="1677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EDES Y COMUNICACIONES</a:t>
            </a:r>
            <a:endParaRPr sz="2050"/>
          </a:p>
        </p:txBody>
      </p:sp>
      <p:sp>
        <p:nvSpPr>
          <p:cNvPr id="134" name="Google Shape;134;p25"/>
          <p:cNvSpPr txBox="1"/>
          <p:nvPr/>
        </p:nvSpPr>
        <p:spPr>
          <a:xfrm>
            <a:off x="255350" y="2035523"/>
            <a:ext cx="86334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4458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Práctica 6 - TCP Clase 2</a:t>
            </a:r>
            <a:endParaRPr sz="1532"/>
          </a:p>
        </p:txBody>
      </p:sp>
      <p:sp>
        <p:nvSpPr>
          <p:cNvPr id="135" name="Google Shape;135;p25"/>
          <p:cNvSpPr txBox="1"/>
          <p:nvPr/>
        </p:nvSpPr>
        <p:spPr>
          <a:xfrm>
            <a:off x="3906738" y="4646664"/>
            <a:ext cx="13305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100" u="none" cap="none" strike="noStrik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Ignacio Traberg</a:t>
            </a:r>
            <a:endParaRPr sz="1100"/>
          </a:p>
        </p:txBody>
      </p:sp>
      <p:sp>
        <p:nvSpPr>
          <p:cNvPr id="136" name="Google Shape;136;p25"/>
          <p:cNvSpPr txBox="1"/>
          <p:nvPr/>
        </p:nvSpPr>
        <p:spPr>
          <a:xfrm>
            <a:off x="1269441" y="3026596"/>
            <a:ext cx="18288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393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Control de Flujo</a:t>
            </a:r>
            <a:endParaRPr sz="1532"/>
          </a:p>
        </p:txBody>
      </p:sp>
      <p:sp>
        <p:nvSpPr>
          <p:cNvPr id="137" name="Google Shape;137;p25"/>
          <p:cNvSpPr txBox="1"/>
          <p:nvPr/>
        </p:nvSpPr>
        <p:spPr>
          <a:xfrm>
            <a:off x="3139026" y="3026596"/>
            <a:ext cx="25374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393" u="none" cap="none" strike="noStrike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Control de Congestión</a:t>
            </a:r>
            <a:endParaRPr sz="1532"/>
          </a:p>
        </p:txBody>
      </p:sp>
      <p:sp>
        <p:nvSpPr>
          <p:cNvPr id="138" name="Google Shape;138;p25"/>
          <p:cNvSpPr txBox="1"/>
          <p:nvPr/>
        </p:nvSpPr>
        <p:spPr>
          <a:xfrm>
            <a:off x="5676586" y="3026596"/>
            <a:ext cx="2239200" cy="2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93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Tamaño de Ventana</a:t>
            </a:r>
            <a:endParaRPr sz="1532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6"/>
          <p:cNvSpPr/>
          <p:nvPr/>
        </p:nvSpPr>
        <p:spPr>
          <a:xfrm>
            <a:off x="457200" y="1215424"/>
            <a:ext cx="4043400" cy="1450500"/>
          </a:xfrm>
          <a:prstGeom prst="roundRect">
            <a:avLst>
              <a:gd fmla="val 451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6"/>
          <p:cNvSpPr/>
          <p:nvPr/>
        </p:nvSpPr>
        <p:spPr>
          <a:xfrm>
            <a:off x="4643438" y="1215424"/>
            <a:ext cx="4043400" cy="1450500"/>
          </a:xfrm>
          <a:prstGeom prst="roundRect">
            <a:avLst>
              <a:gd fmla="val 451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6"/>
          <p:cNvSpPr/>
          <p:nvPr/>
        </p:nvSpPr>
        <p:spPr>
          <a:xfrm>
            <a:off x="457200" y="3106186"/>
            <a:ext cx="4043400" cy="1450500"/>
          </a:xfrm>
          <a:prstGeom prst="roundRect">
            <a:avLst>
              <a:gd fmla="val 451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6"/>
          <p:cNvSpPr/>
          <p:nvPr/>
        </p:nvSpPr>
        <p:spPr>
          <a:xfrm>
            <a:off x="4643438" y="3106186"/>
            <a:ext cx="4043400" cy="1450500"/>
          </a:xfrm>
          <a:prstGeom prst="roundRect">
            <a:avLst>
              <a:gd fmla="val 4511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6"/>
          <p:cNvSpPr/>
          <p:nvPr/>
        </p:nvSpPr>
        <p:spPr>
          <a:xfrm>
            <a:off x="635794" y="3507581"/>
            <a:ext cx="1814400" cy="278700"/>
          </a:xfrm>
          <a:prstGeom prst="roundRect">
            <a:avLst>
              <a:gd fmla="val 1538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6"/>
          <p:cNvSpPr/>
          <p:nvPr/>
        </p:nvSpPr>
        <p:spPr>
          <a:xfrm>
            <a:off x="2507456" y="3507581"/>
            <a:ext cx="1814400" cy="278700"/>
          </a:xfrm>
          <a:prstGeom prst="roundRect">
            <a:avLst>
              <a:gd fmla="val 1538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6"/>
          <p:cNvSpPr/>
          <p:nvPr/>
        </p:nvSpPr>
        <p:spPr>
          <a:xfrm>
            <a:off x="635794" y="3843338"/>
            <a:ext cx="1814400" cy="278700"/>
          </a:xfrm>
          <a:prstGeom prst="roundRect">
            <a:avLst>
              <a:gd fmla="val 1538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6"/>
          <p:cNvSpPr/>
          <p:nvPr/>
        </p:nvSpPr>
        <p:spPr>
          <a:xfrm>
            <a:off x="2507456" y="3843338"/>
            <a:ext cx="1814400" cy="278700"/>
          </a:xfrm>
          <a:prstGeom prst="roundRect">
            <a:avLst>
              <a:gd fmla="val 1538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51" name="Google Shape;151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794" y="1537097"/>
            <a:ext cx="135731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2" name="Google Shape;152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2031" y="1537097"/>
            <a:ext cx="15716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3" name="Google Shape;153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5794" y="3250406"/>
            <a:ext cx="200025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2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2031" y="3427809"/>
            <a:ext cx="178594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6"/>
          <p:cNvSpPr txBox="1"/>
          <p:nvPr/>
        </p:nvSpPr>
        <p:spPr>
          <a:xfrm>
            <a:off x="457200" y="285750"/>
            <a:ext cx="830103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7A001E"/>
                </a:solidFill>
                <a:latin typeface="Inter"/>
                <a:ea typeface="Inter"/>
                <a:cs typeface="Inter"/>
                <a:sym typeface="Inter"/>
              </a:rPr>
              <a:t>Fundamentos</a:t>
            </a:r>
            <a:endParaRPr sz="1100"/>
          </a:p>
        </p:txBody>
      </p:sp>
      <p:sp>
        <p:nvSpPr>
          <p:cNvPr id="156" name="Google Shape;156;p26"/>
          <p:cNvSpPr txBox="1"/>
          <p:nvPr/>
        </p:nvSpPr>
        <p:spPr>
          <a:xfrm>
            <a:off x="457200" y="457200"/>
            <a:ext cx="8686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Capa de Transporte: Conceptos Clave</a:t>
            </a:r>
            <a:endParaRPr sz="1100"/>
          </a:p>
        </p:txBody>
      </p:sp>
      <p:sp>
        <p:nvSpPr>
          <p:cNvPr id="157" name="Google Shape;157;p26"/>
          <p:cNvSpPr txBox="1"/>
          <p:nvPr/>
        </p:nvSpPr>
        <p:spPr>
          <a:xfrm>
            <a:off x="842963" y="1522809"/>
            <a:ext cx="46206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UDP</a:t>
            </a:r>
            <a:endParaRPr sz="1100"/>
          </a:p>
        </p:txBody>
      </p:sp>
      <p:sp>
        <p:nvSpPr>
          <p:cNvPr id="158" name="Google Shape;158;p26"/>
          <p:cNvSpPr txBox="1"/>
          <p:nvPr/>
        </p:nvSpPr>
        <p:spPr>
          <a:xfrm>
            <a:off x="5050631" y="1522809"/>
            <a:ext cx="40935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TCP</a:t>
            </a:r>
            <a:endParaRPr sz="1100"/>
          </a:p>
        </p:txBody>
      </p:sp>
      <p:sp>
        <p:nvSpPr>
          <p:cNvPr id="159" name="Google Shape;159;p26"/>
          <p:cNvSpPr txBox="1"/>
          <p:nvPr/>
        </p:nvSpPr>
        <p:spPr>
          <a:xfrm>
            <a:off x="907256" y="3236119"/>
            <a:ext cx="4553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Puertos</a:t>
            </a:r>
            <a:endParaRPr sz="1100"/>
          </a:p>
        </p:txBody>
      </p:sp>
      <p:sp>
        <p:nvSpPr>
          <p:cNvPr id="160" name="Google Shape;160;p26"/>
          <p:cNvSpPr txBox="1"/>
          <p:nvPr/>
        </p:nvSpPr>
        <p:spPr>
          <a:xfrm>
            <a:off x="5072063" y="3413521"/>
            <a:ext cx="40719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Elementos</a:t>
            </a:r>
            <a:endParaRPr sz="1100"/>
          </a:p>
        </p:txBody>
      </p:sp>
      <p:sp>
        <p:nvSpPr>
          <p:cNvPr id="161" name="Google Shape;161;p26"/>
          <p:cNvSpPr txBox="1"/>
          <p:nvPr/>
        </p:nvSpPr>
        <p:spPr>
          <a:xfrm>
            <a:off x="635794" y="1794272"/>
            <a:ext cx="4607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Sin conexión:</a:t>
            </a: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Envío sin Handshake.</a:t>
            </a:r>
            <a:endParaRPr sz="1100"/>
          </a:p>
        </p:txBody>
      </p:sp>
      <p:sp>
        <p:nvSpPr>
          <p:cNvPr id="162" name="Google Shape;162;p26"/>
          <p:cNvSpPr txBox="1"/>
          <p:nvPr/>
        </p:nvSpPr>
        <p:spPr>
          <a:xfrm>
            <a:off x="635794" y="2001440"/>
            <a:ext cx="4607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No confiable:</a:t>
            </a: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Sin ACK ni retransmisión.</a:t>
            </a:r>
            <a:endParaRPr sz="1100"/>
          </a:p>
        </p:txBody>
      </p:sp>
      <p:sp>
        <p:nvSpPr>
          <p:cNvPr id="163" name="Google Shape;163;p26"/>
          <p:cNvSpPr txBox="1"/>
          <p:nvPr/>
        </p:nvSpPr>
        <p:spPr>
          <a:xfrm>
            <a:off x="635794" y="2208609"/>
            <a:ext cx="4607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Encabezado:</a:t>
            </a: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Fijo de 8 bytes.</a:t>
            </a:r>
            <a:endParaRPr sz="1100"/>
          </a:p>
        </p:txBody>
      </p:sp>
      <p:sp>
        <p:nvSpPr>
          <p:cNvPr id="164" name="Google Shape;164;p26"/>
          <p:cNvSpPr txBox="1"/>
          <p:nvPr/>
        </p:nvSpPr>
        <p:spPr>
          <a:xfrm>
            <a:off x="4822031" y="1794272"/>
            <a:ext cx="432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Conexión:</a:t>
            </a: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Handshake de 3 vías.</a:t>
            </a:r>
            <a:endParaRPr sz="1100"/>
          </a:p>
        </p:txBody>
      </p:sp>
      <p:sp>
        <p:nvSpPr>
          <p:cNvPr id="165" name="Google Shape;165;p26"/>
          <p:cNvSpPr txBox="1"/>
          <p:nvPr/>
        </p:nvSpPr>
        <p:spPr>
          <a:xfrm>
            <a:off x="4822031" y="2001440"/>
            <a:ext cx="432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Confiable:</a:t>
            </a: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Secuenciación y retransmisión.</a:t>
            </a:r>
            <a:endParaRPr sz="1100"/>
          </a:p>
        </p:txBody>
      </p:sp>
      <p:sp>
        <p:nvSpPr>
          <p:cNvPr id="166" name="Google Shape;166;p26"/>
          <p:cNvSpPr txBox="1"/>
          <p:nvPr/>
        </p:nvSpPr>
        <p:spPr>
          <a:xfrm>
            <a:off x="4822031" y="2208609"/>
            <a:ext cx="432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Control Dual:</a:t>
            </a: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Flujo (rwnd) + Congestión (cwnd).</a:t>
            </a:r>
            <a:endParaRPr sz="1100"/>
          </a:p>
        </p:txBody>
      </p:sp>
      <p:sp>
        <p:nvSpPr>
          <p:cNvPr id="167" name="Google Shape;167;p26"/>
          <p:cNvSpPr txBox="1"/>
          <p:nvPr/>
        </p:nvSpPr>
        <p:spPr>
          <a:xfrm>
            <a:off x="721519" y="3564731"/>
            <a:ext cx="1714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HTTP:</a:t>
            </a:r>
            <a:r>
              <a:rPr b="0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 80 / TCP</a:t>
            </a:r>
            <a:endParaRPr sz="1100"/>
          </a:p>
        </p:txBody>
      </p:sp>
      <p:sp>
        <p:nvSpPr>
          <p:cNvPr id="168" name="Google Shape;168;p26"/>
          <p:cNvSpPr txBox="1"/>
          <p:nvPr/>
        </p:nvSpPr>
        <p:spPr>
          <a:xfrm>
            <a:off x="2593181" y="3564731"/>
            <a:ext cx="1714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HTTPS:</a:t>
            </a:r>
            <a:r>
              <a:rPr b="0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 443 / TCP</a:t>
            </a:r>
            <a:endParaRPr sz="1100"/>
          </a:p>
        </p:txBody>
      </p:sp>
      <p:sp>
        <p:nvSpPr>
          <p:cNvPr id="169" name="Google Shape;169;p26"/>
          <p:cNvSpPr txBox="1"/>
          <p:nvPr/>
        </p:nvSpPr>
        <p:spPr>
          <a:xfrm>
            <a:off x="721519" y="3900488"/>
            <a:ext cx="1714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DNS:</a:t>
            </a:r>
            <a:r>
              <a:rPr b="0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 53 / UDP</a:t>
            </a:r>
            <a:endParaRPr sz="1100"/>
          </a:p>
        </p:txBody>
      </p:sp>
      <p:sp>
        <p:nvSpPr>
          <p:cNvPr id="170" name="Google Shape;170;p26"/>
          <p:cNvSpPr txBox="1"/>
          <p:nvPr/>
        </p:nvSpPr>
        <p:spPr>
          <a:xfrm>
            <a:off x="2593181" y="3900488"/>
            <a:ext cx="1714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SSH:</a:t>
            </a:r>
            <a:r>
              <a:rPr b="0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 22 / TCP</a:t>
            </a:r>
            <a:endParaRPr sz="1100"/>
          </a:p>
        </p:txBody>
      </p:sp>
      <p:sp>
        <p:nvSpPr>
          <p:cNvPr id="171" name="Google Shape;171;p26"/>
          <p:cNvSpPr txBox="1"/>
          <p:nvPr/>
        </p:nvSpPr>
        <p:spPr>
          <a:xfrm>
            <a:off x="4822031" y="3684984"/>
            <a:ext cx="432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Socket:</a:t>
            </a: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Dirección IP + Puerto </a:t>
            </a:r>
            <a:r>
              <a:rPr lang="es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+ Protocolo</a:t>
            </a: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/>
          </a:p>
        </p:txBody>
      </p:sp>
      <p:sp>
        <p:nvSpPr>
          <p:cNvPr id="172" name="Google Shape;172;p26"/>
          <p:cNvSpPr txBox="1"/>
          <p:nvPr/>
        </p:nvSpPr>
        <p:spPr>
          <a:xfrm>
            <a:off x="4822031" y="3892153"/>
            <a:ext cx="432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000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Flags</a:t>
            </a:r>
            <a:r>
              <a:rPr b="1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SYN, ACK, FIN, RST, PSH.</a:t>
            </a:r>
            <a:endParaRPr sz="1100"/>
          </a:p>
        </p:txBody>
      </p:sp>
      <p:sp>
        <p:nvSpPr>
          <p:cNvPr id="173" name="Google Shape;173;p26"/>
          <p:cNvSpPr txBox="1"/>
          <p:nvPr/>
        </p:nvSpPr>
        <p:spPr>
          <a:xfrm>
            <a:off x="4822031" y="4099322"/>
            <a:ext cx="4322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Seguimiento:</a:t>
            </a: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Numeración por Byte.</a:t>
            </a:r>
            <a:endParaRPr sz="1100"/>
          </a:p>
        </p:txBody>
      </p:sp>
      <p:sp>
        <p:nvSpPr>
          <p:cNvPr id="174" name="Google Shape;174;p26"/>
          <p:cNvSpPr/>
          <p:nvPr/>
        </p:nvSpPr>
        <p:spPr>
          <a:xfrm>
            <a:off x="635794" y="4179113"/>
            <a:ext cx="1814400" cy="278700"/>
          </a:xfrm>
          <a:prstGeom prst="roundRect">
            <a:avLst>
              <a:gd fmla="val 1538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26"/>
          <p:cNvSpPr/>
          <p:nvPr/>
        </p:nvSpPr>
        <p:spPr>
          <a:xfrm>
            <a:off x="2507456" y="4179113"/>
            <a:ext cx="1814400" cy="278700"/>
          </a:xfrm>
          <a:prstGeom prst="roundRect">
            <a:avLst>
              <a:gd fmla="val 15384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26"/>
          <p:cNvSpPr txBox="1"/>
          <p:nvPr/>
        </p:nvSpPr>
        <p:spPr>
          <a:xfrm>
            <a:off x="721519" y="4236263"/>
            <a:ext cx="1714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IMAP</a:t>
            </a:r>
            <a:r>
              <a:rPr b="1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r>
              <a:rPr b="0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900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143 </a:t>
            </a:r>
            <a:r>
              <a:rPr b="0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/ </a:t>
            </a:r>
            <a:r>
              <a:rPr lang="es" sz="900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TCP</a:t>
            </a:r>
            <a:endParaRPr sz="1100"/>
          </a:p>
        </p:txBody>
      </p:sp>
      <p:sp>
        <p:nvSpPr>
          <p:cNvPr id="177" name="Google Shape;177;p26"/>
          <p:cNvSpPr txBox="1"/>
          <p:nvPr/>
        </p:nvSpPr>
        <p:spPr>
          <a:xfrm>
            <a:off x="2593181" y="4236263"/>
            <a:ext cx="17145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900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POP3</a:t>
            </a:r>
            <a:r>
              <a:rPr b="1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:</a:t>
            </a:r>
            <a:r>
              <a:rPr b="0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  <a:r>
              <a:rPr lang="es" sz="900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110 </a:t>
            </a:r>
            <a:r>
              <a:rPr b="0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/ TCP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7"/>
          <p:cNvSpPr/>
          <p:nvPr/>
        </p:nvSpPr>
        <p:spPr>
          <a:xfrm>
            <a:off x="457200" y="942975"/>
            <a:ext cx="8229600" cy="371475"/>
          </a:xfrm>
          <a:prstGeom prst="rect">
            <a:avLst/>
          </a:prstGeom>
          <a:solidFill>
            <a:srgbClr val="FDF2F8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7"/>
          <p:cNvSpPr/>
          <p:nvPr/>
        </p:nvSpPr>
        <p:spPr>
          <a:xfrm>
            <a:off x="457200" y="942975"/>
            <a:ext cx="42863" cy="371475"/>
          </a:xfrm>
          <a:prstGeom prst="rect">
            <a:avLst/>
          </a:prstGeom>
          <a:solidFill>
            <a:srgbClr val="7A001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7"/>
          <p:cNvSpPr/>
          <p:nvPr/>
        </p:nvSpPr>
        <p:spPr>
          <a:xfrm>
            <a:off x="457200" y="2018109"/>
            <a:ext cx="8229600" cy="664369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7"/>
          <p:cNvSpPr/>
          <p:nvPr/>
        </p:nvSpPr>
        <p:spPr>
          <a:xfrm>
            <a:off x="457200" y="2796778"/>
            <a:ext cx="8229600" cy="664369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27"/>
          <p:cNvSpPr/>
          <p:nvPr/>
        </p:nvSpPr>
        <p:spPr>
          <a:xfrm>
            <a:off x="457200" y="3575447"/>
            <a:ext cx="8229600" cy="664369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27"/>
          <p:cNvSpPr/>
          <p:nvPr/>
        </p:nvSpPr>
        <p:spPr>
          <a:xfrm>
            <a:off x="6350794" y="2182415"/>
            <a:ext cx="2128838" cy="335756"/>
          </a:xfrm>
          <a:prstGeom prst="roundRect">
            <a:avLst>
              <a:gd fmla="val 17021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27"/>
          <p:cNvSpPr/>
          <p:nvPr/>
        </p:nvSpPr>
        <p:spPr>
          <a:xfrm>
            <a:off x="5279231" y="2961084"/>
            <a:ext cx="3200400" cy="335756"/>
          </a:xfrm>
          <a:prstGeom prst="roundRect">
            <a:avLst>
              <a:gd fmla="val 17021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7"/>
          <p:cNvSpPr/>
          <p:nvPr/>
        </p:nvSpPr>
        <p:spPr>
          <a:xfrm>
            <a:off x="5850731" y="3739753"/>
            <a:ext cx="2628900" cy="335756"/>
          </a:xfrm>
          <a:prstGeom prst="roundRect">
            <a:avLst>
              <a:gd fmla="val 17021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0" name="Google Shape;19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369" y="2182415"/>
            <a:ext cx="15716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369" y="2961084"/>
            <a:ext cx="15716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4369" y="3739753"/>
            <a:ext cx="157163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7"/>
          <p:cNvSpPr txBox="1"/>
          <p:nvPr/>
        </p:nvSpPr>
        <p:spPr>
          <a:xfrm>
            <a:off x="457200" y="342900"/>
            <a:ext cx="830103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7A001E"/>
                </a:solidFill>
                <a:latin typeface="Inter"/>
                <a:ea typeface="Inter"/>
                <a:cs typeface="Inter"/>
                <a:sym typeface="Inter"/>
              </a:rPr>
              <a:t>Mecanismo 1</a:t>
            </a:r>
            <a:endParaRPr sz="1100"/>
          </a:p>
        </p:txBody>
      </p:sp>
      <p:sp>
        <p:nvSpPr>
          <p:cNvPr id="194" name="Google Shape;194;p27"/>
          <p:cNvSpPr txBox="1"/>
          <p:nvPr/>
        </p:nvSpPr>
        <p:spPr>
          <a:xfrm>
            <a:off x="457200" y="514350"/>
            <a:ext cx="8686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Control de Flujo: Protege al Receptor</a:t>
            </a:r>
            <a:endParaRPr sz="1100"/>
          </a:p>
        </p:txBody>
      </p:sp>
      <p:sp>
        <p:nvSpPr>
          <p:cNvPr id="195" name="Google Shape;195;p27"/>
          <p:cNvSpPr txBox="1"/>
          <p:nvPr/>
        </p:nvSpPr>
        <p:spPr>
          <a:xfrm>
            <a:off x="642938" y="1042988"/>
            <a:ext cx="8501063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701A75"/>
                </a:solidFill>
                <a:latin typeface="Inter"/>
                <a:ea typeface="Inter"/>
                <a:cs typeface="Inter"/>
                <a:sym typeface="Inter"/>
              </a:rPr>
              <a:t>Objetivo: Evitar que un emisor rápido desborde el buffer del receptor (RxBuffer).</a:t>
            </a:r>
            <a:endParaRPr sz="1100"/>
          </a:p>
        </p:txBody>
      </p:sp>
      <p:sp>
        <p:nvSpPr>
          <p:cNvPr id="196" name="Google Shape;196;p27"/>
          <p:cNvSpPr txBox="1"/>
          <p:nvPr/>
        </p:nvSpPr>
        <p:spPr>
          <a:xfrm>
            <a:off x="6479381" y="2268140"/>
            <a:ext cx="194310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TCP Header [Window = rwnd]</a:t>
            </a:r>
            <a:endParaRPr sz="1100"/>
          </a:p>
        </p:txBody>
      </p:sp>
      <p:sp>
        <p:nvSpPr>
          <p:cNvPr id="197" name="Google Shape;197;p27"/>
          <p:cNvSpPr txBox="1"/>
          <p:nvPr/>
        </p:nvSpPr>
        <p:spPr>
          <a:xfrm>
            <a:off x="5407819" y="3046809"/>
            <a:ext cx="3014663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7A001E"/>
                </a:solidFill>
                <a:latin typeface="Fira Code"/>
                <a:ea typeface="Fira Code"/>
                <a:cs typeface="Fira Code"/>
                <a:sym typeface="Fira Code"/>
              </a:rPr>
              <a:t>FlightSize = LastByteSent - LastByteAcked</a:t>
            </a:r>
            <a:endParaRPr sz="1100"/>
          </a:p>
        </p:txBody>
      </p:sp>
      <p:sp>
        <p:nvSpPr>
          <p:cNvPr id="198" name="Google Shape;198;p27"/>
          <p:cNvSpPr txBox="1"/>
          <p:nvPr/>
        </p:nvSpPr>
        <p:spPr>
          <a:xfrm>
            <a:off x="5979319" y="3825478"/>
            <a:ext cx="2443163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166534"/>
                </a:solidFill>
                <a:latin typeface="Fira Code"/>
                <a:ea typeface="Fira Code"/>
                <a:cs typeface="Fira Code"/>
                <a:sym typeface="Fira Code"/>
              </a:rPr>
              <a:t>Effective_Win = rwnd - FlightSize</a:t>
            </a:r>
            <a:endParaRPr sz="1100"/>
          </a:p>
        </p:txBody>
      </p:sp>
      <p:sp>
        <p:nvSpPr>
          <p:cNvPr id="199" name="Google Shape;199;p27"/>
          <p:cNvSpPr txBox="1"/>
          <p:nvPr/>
        </p:nvSpPr>
        <p:spPr>
          <a:xfrm>
            <a:off x="664369" y="2382440"/>
            <a:ext cx="6893719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receptor notifica su espacio libre en el campo </a:t>
            </a:r>
            <a:r>
              <a:rPr b="1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Window Size</a:t>
            </a: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/>
          </a:p>
        </p:txBody>
      </p:sp>
      <p:sp>
        <p:nvSpPr>
          <p:cNvPr id="200" name="Google Shape;200;p27"/>
          <p:cNvSpPr txBox="1"/>
          <p:nvPr/>
        </p:nvSpPr>
        <p:spPr>
          <a:xfrm>
            <a:off x="664369" y="3161109"/>
            <a:ext cx="5554265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Bytes enviados que aún no recibieron confirmación ACK.</a:t>
            </a:r>
            <a:endParaRPr sz="1100"/>
          </a:p>
        </p:txBody>
      </p:sp>
      <p:sp>
        <p:nvSpPr>
          <p:cNvPr id="201" name="Google Shape;201;p27"/>
          <p:cNvSpPr txBox="1"/>
          <p:nvPr/>
        </p:nvSpPr>
        <p:spPr>
          <a:xfrm>
            <a:off x="664369" y="3939778"/>
            <a:ext cx="6268640" cy="1500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Bytes permitidos para enviar de inmediato.</a:t>
            </a:r>
            <a:endParaRPr sz="1100"/>
          </a:p>
        </p:txBody>
      </p:sp>
      <p:sp>
        <p:nvSpPr>
          <p:cNvPr id="202" name="Google Shape;202;p27"/>
          <p:cNvSpPr txBox="1"/>
          <p:nvPr/>
        </p:nvSpPr>
        <p:spPr>
          <a:xfrm>
            <a:off x="907256" y="2168128"/>
            <a:ext cx="2897237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 Ventana Anunciada (rwnd)</a:t>
            </a:r>
            <a:endParaRPr sz="1100"/>
          </a:p>
        </p:txBody>
      </p:sp>
      <p:sp>
        <p:nvSpPr>
          <p:cNvPr id="203" name="Google Shape;203;p27"/>
          <p:cNvSpPr txBox="1"/>
          <p:nvPr/>
        </p:nvSpPr>
        <p:spPr>
          <a:xfrm>
            <a:off x="907256" y="2946797"/>
            <a:ext cx="3216026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Datos en Tránsito (FlightSize)</a:t>
            </a:r>
            <a:endParaRPr sz="1100"/>
          </a:p>
        </p:txBody>
      </p:sp>
      <p:sp>
        <p:nvSpPr>
          <p:cNvPr id="204" name="Google Shape;204;p27"/>
          <p:cNvSpPr txBox="1"/>
          <p:nvPr/>
        </p:nvSpPr>
        <p:spPr>
          <a:xfrm>
            <a:off x="907256" y="3725465"/>
            <a:ext cx="1950244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Ventana Efectiva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8"/>
          <p:cNvSpPr/>
          <p:nvPr/>
        </p:nvSpPr>
        <p:spPr>
          <a:xfrm>
            <a:off x="457200" y="971550"/>
            <a:ext cx="8229600" cy="466688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8"/>
          <p:cNvSpPr/>
          <p:nvPr/>
        </p:nvSpPr>
        <p:spPr>
          <a:xfrm>
            <a:off x="457200" y="971550"/>
            <a:ext cx="42863" cy="466688"/>
          </a:xfrm>
          <a:prstGeom prst="rect">
            <a:avLst/>
          </a:prstGeom>
          <a:solidFill>
            <a:srgbClr val="7A001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8"/>
          <p:cNvSpPr/>
          <p:nvPr/>
        </p:nvSpPr>
        <p:spPr>
          <a:xfrm>
            <a:off x="457200" y="2334425"/>
            <a:ext cx="4029000" cy="1770000"/>
          </a:xfrm>
          <a:prstGeom prst="roundRect">
            <a:avLst>
              <a:gd fmla="val 271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8"/>
          <p:cNvSpPr/>
          <p:nvPr/>
        </p:nvSpPr>
        <p:spPr>
          <a:xfrm>
            <a:off x="4657725" y="2334425"/>
            <a:ext cx="4029000" cy="1770000"/>
          </a:xfrm>
          <a:prstGeom prst="roundRect">
            <a:avLst>
              <a:gd fmla="val 271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8"/>
          <p:cNvSpPr txBox="1"/>
          <p:nvPr/>
        </p:nvSpPr>
        <p:spPr>
          <a:xfrm>
            <a:off x="457200" y="342900"/>
            <a:ext cx="830103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7A001E"/>
                </a:solidFill>
                <a:latin typeface="Inter"/>
                <a:ea typeface="Inter"/>
                <a:cs typeface="Inter"/>
                <a:sym typeface="Inter"/>
              </a:rPr>
              <a:t>Parámetros</a:t>
            </a:r>
            <a:endParaRPr sz="1100"/>
          </a:p>
        </p:txBody>
      </p:sp>
      <p:sp>
        <p:nvSpPr>
          <p:cNvPr id="214" name="Google Shape;214;p28"/>
          <p:cNvSpPr txBox="1"/>
          <p:nvPr/>
        </p:nvSpPr>
        <p:spPr>
          <a:xfrm>
            <a:off x="457200" y="514350"/>
            <a:ext cx="8686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Tamaño de Ventana y Escalado</a:t>
            </a:r>
            <a:endParaRPr sz="1100"/>
          </a:p>
        </p:txBody>
      </p:sp>
      <p:sp>
        <p:nvSpPr>
          <p:cNvPr id="215" name="Google Shape;215;p28"/>
          <p:cNvSpPr txBox="1"/>
          <p:nvPr/>
        </p:nvSpPr>
        <p:spPr>
          <a:xfrm>
            <a:off x="671527" y="1066211"/>
            <a:ext cx="71271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600" u="sng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Fórmula</a:t>
            </a:r>
            <a:r>
              <a:rPr b="1" lang="es" sz="1600" u="sng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b="1" i="0" lang="es" sz="1600" u="sng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Ventana Real</a:t>
            </a:r>
            <a:r>
              <a:rPr b="1" i="0" lang="es" sz="16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 = Window Size × 2</a:t>
            </a:r>
            <a:r>
              <a:rPr b="1" baseline="30000" i="0" lang="es" sz="1600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Window Scale</a:t>
            </a:r>
            <a:endParaRPr baseline="30000" sz="1600"/>
          </a:p>
        </p:txBody>
      </p:sp>
      <p:sp>
        <p:nvSpPr>
          <p:cNvPr id="216" name="Google Shape;216;p28"/>
          <p:cNvSpPr txBox="1"/>
          <p:nvPr/>
        </p:nvSpPr>
        <p:spPr>
          <a:xfrm>
            <a:off x="692944" y="2769319"/>
            <a:ext cx="4669334" cy="2071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Límite Estándar: 64 KB</a:t>
            </a:r>
            <a:endParaRPr sz="1100"/>
          </a:p>
        </p:txBody>
      </p:sp>
      <p:sp>
        <p:nvSpPr>
          <p:cNvPr id="217" name="Google Shape;217;p28"/>
          <p:cNvSpPr txBox="1"/>
          <p:nvPr/>
        </p:nvSpPr>
        <p:spPr>
          <a:xfrm>
            <a:off x="692944" y="3090788"/>
            <a:ext cx="3629025" cy="578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campo </a:t>
            </a:r>
            <a:r>
              <a:rPr b="1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Window Size</a:t>
            </a: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en el encabezado TCP es de 16 bits (máximo </a:t>
            </a:r>
            <a:r>
              <a:rPr b="1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65.535 bytes</a:t>
            </a: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). Insuficiente para redes modernas.</a:t>
            </a:r>
            <a:endParaRPr sz="1100"/>
          </a:p>
        </p:txBody>
      </p:sp>
      <p:sp>
        <p:nvSpPr>
          <p:cNvPr id="218" name="Google Shape;218;p28"/>
          <p:cNvSpPr txBox="1"/>
          <p:nvPr/>
        </p:nvSpPr>
        <p:spPr>
          <a:xfrm>
            <a:off x="4893469" y="2865760"/>
            <a:ext cx="4250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7A001E"/>
                </a:solidFill>
                <a:latin typeface="Inter"/>
                <a:ea typeface="Inter"/>
                <a:cs typeface="Inter"/>
                <a:sym typeface="Inter"/>
              </a:rPr>
              <a:t>Opción de Ventana Escalar</a:t>
            </a:r>
            <a:endParaRPr sz="1100"/>
          </a:p>
        </p:txBody>
      </p:sp>
      <p:sp>
        <p:nvSpPr>
          <p:cNvPr id="219" name="Google Shape;219;p28"/>
          <p:cNvSpPr txBox="1"/>
          <p:nvPr/>
        </p:nvSpPr>
        <p:spPr>
          <a:xfrm>
            <a:off x="4893469" y="3187228"/>
            <a:ext cx="3629025" cy="3857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Se negocia en el </a:t>
            </a:r>
            <a:r>
              <a:rPr b="1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Handshake (SYN)</a:t>
            </a: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Desplaza bits a la izquierda para ampliar la ventana hasta </a:t>
            </a:r>
            <a:r>
              <a:rPr b="1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1 GB</a:t>
            </a: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9"/>
          <p:cNvSpPr/>
          <p:nvPr/>
        </p:nvSpPr>
        <p:spPr>
          <a:xfrm>
            <a:off x="457200" y="942975"/>
            <a:ext cx="8229600" cy="371475"/>
          </a:xfrm>
          <a:prstGeom prst="rect">
            <a:avLst/>
          </a:prstGeom>
          <a:solidFill>
            <a:srgbClr val="FFF1F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9"/>
          <p:cNvSpPr/>
          <p:nvPr/>
        </p:nvSpPr>
        <p:spPr>
          <a:xfrm>
            <a:off x="457200" y="942975"/>
            <a:ext cx="42863" cy="371475"/>
          </a:xfrm>
          <a:prstGeom prst="rect">
            <a:avLst/>
          </a:prstGeom>
          <a:solidFill>
            <a:srgbClr val="7A001E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9"/>
          <p:cNvSpPr/>
          <p:nvPr/>
        </p:nvSpPr>
        <p:spPr>
          <a:xfrm>
            <a:off x="457200" y="2453878"/>
            <a:ext cx="8229600" cy="6858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9"/>
          <p:cNvSpPr/>
          <p:nvPr/>
        </p:nvSpPr>
        <p:spPr>
          <a:xfrm>
            <a:off x="457200" y="3253978"/>
            <a:ext cx="8229600" cy="664500"/>
          </a:xfrm>
          <a:prstGeom prst="roundRect">
            <a:avLst>
              <a:gd fmla="val 1290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9"/>
          <p:cNvSpPr/>
          <p:nvPr/>
        </p:nvSpPr>
        <p:spPr>
          <a:xfrm>
            <a:off x="457200" y="4032647"/>
            <a:ext cx="8229600" cy="685800"/>
          </a:xfrm>
          <a:prstGeom prst="roundRect">
            <a:avLst>
              <a:gd fmla="val 1250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9"/>
          <p:cNvSpPr/>
          <p:nvPr/>
        </p:nvSpPr>
        <p:spPr>
          <a:xfrm>
            <a:off x="7279481" y="2628900"/>
            <a:ext cx="1200300" cy="335700"/>
          </a:xfrm>
          <a:prstGeom prst="roundRect">
            <a:avLst>
              <a:gd fmla="val 17021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9"/>
          <p:cNvSpPr/>
          <p:nvPr/>
        </p:nvSpPr>
        <p:spPr>
          <a:xfrm>
            <a:off x="7208044" y="3418284"/>
            <a:ext cx="1271700" cy="335700"/>
          </a:xfrm>
          <a:prstGeom prst="roundRect">
            <a:avLst>
              <a:gd fmla="val 17021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9"/>
          <p:cNvSpPr/>
          <p:nvPr/>
        </p:nvSpPr>
        <p:spPr>
          <a:xfrm>
            <a:off x="7279481" y="4207669"/>
            <a:ext cx="1200300" cy="335700"/>
          </a:xfrm>
          <a:prstGeom prst="roundRect">
            <a:avLst>
              <a:gd fmla="val 17021" name="adj"/>
            </a:avLst>
          </a:prstGeom>
          <a:solidFill>
            <a:srgbClr val="F0FDF4"/>
          </a:solidFill>
          <a:ln cap="flat" cmpd="sng" w="9525">
            <a:solidFill>
              <a:srgbClr val="BBF7D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2" name="Google Shape;232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369" y="2618184"/>
            <a:ext cx="15716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4369" y="3418284"/>
            <a:ext cx="15716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4" name="Google Shape;234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4369" y="4196953"/>
            <a:ext cx="178594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29"/>
          <p:cNvSpPr txBox="1"/>
          <p:nvPr/>
        </p:nvSpPr>
        <p:spPr>
          <a:xfrm>
            <a:off x="457200" y="342900"/>
            <a:ext cx="830103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7A001E"/>
                </a:solidFill>
                <a:latin typeface="Inter"/>
                <a:ea typeface="Inter"/>
                <a:cs typeface="Inter"/>
                <a:sym typeface="Inter"/>
              </a:rPr>
              <a:t>Mecanismo de Control</a:t>
            </a:r>
            <a:endParaRPr sz="1100"/>
          </a:p>
        </p:txBody>
      </p:sp>
      <p:sp>
        <p:nvSpPr>
          <p:cNvPr id="236" name="Google Shape;236;p29"/>
          <p:cNvSpPr txBox="1"/>
          <p:nvPr/>
        </p:nvSpPr>
        <p:spPr>
          <a:xfrm>
            <a:off x="457200" y="514350"/>
            <a:ext cx="8686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Ventana en cero</a:t>
            </a:r>
            <a:r>
              <a:rPr b="1" i="0" lang="es" sz="2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y </a:t>
            </a:r>
            <a:r>
              <a:rPr b="1" lang="es" sz="2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Probes</a:t>
            </a:r>
            <a:endParaRPr sz="1100"/>
          </a:p>
        </p:txBody>
      </p:sp>
      <p:sp>
        <p:nvSpPr>
          <p:cNvPr id="237" name="Google Shape;237;p29"/>
          <p:cNvSpPr txBox="1"/>
          <p:nvPr/>
        </p:nvSpPr>
        <p:spPr>
          <a:xfrm>
            <a:off x="642950" y="1013550"/>
            <a:ext cx="61149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u="none" cap="none" strike="noStrike">
                <a:solidFill>
                  <a:srgbClr val="991B1B"/>
                </a:solidFill>
                <a:latin typeface="Inter"/>
                <a:ea typeface="Inter"/>
                <a:cs typeface="Inter"/>
                <a:sym typeface="Inter"/>
              </a:rPr>
              <a:t>Bloqueo: Si rwnd = 0, la transmisión se detiene completamente.</a:t>
            </a:r>
            <a:endParaRPr/>
          </a:p>
        </p:txBody>
      </p:sp>
      <p:sp>
        <p:nvSpPr>
          <p:cNvPr id="238" name="Google Shape;238;p29"/>
          <p:cNvSpPr txBox="1"/>
          <p:nvPr/>
        </p:nvSpPr>
        <p:spPr>
          <a:xfrm>
            <a:off x="7408069" y="2714625"/>
            <a:ext cx="1014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ACK [WIN = 0]</a:t>
            </a:r>
            <a:endParaRPr sz="1100"/>
          </a:p>
        </p:txBody>
      </p:sp>
      <p:sp>
        <p:nvSpPr>
          <p:cNvPr id="239" name="Google Shape;239;p29"/>
          <p:cNvSpPr txBox="1"/>
          <p:nvPr/>
        </p:nvSpPr>
        <p:spPr>
          <a:xfrm>
            <a:off x="7336631" y="3504009"/>
            <a:ext cx="1086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7A001E"/>
                </a:solidFill>
                <a:latin typeface="Fira Code"/>
                <a:ea typeface="Fira Code"/>
                <a:cs typeface="Fira Code"/>
                <a:sym typeface="Fira Code"/>
              </a:rPr>
              <a:t>Probe (1 Byte)</a:t>
            </a:r>
            <a:endParaRPr sz="1100"/>
          </a:p>
        </p:txBody>
      </p:sp>
      <p:sp>
        <p:nvSpPr>
          <p:cNvPr id="240" name="Google Shape;240;p29"/>
          <p:cNvSpPr txBox="1"/>
          <p:nvPr/>
        </p:nvSpPr>
        <p:spPr>
          <a:xfrm>
            <a:off x="7408069" y="4293394"/>
            <a:ext cx="10143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166534"/>
                </a:solidFill>
                <a:latin typeface="Fira Code"/>
                <a:ea typeface="Fira Code"/>
                <a:cs typeface="Fira Code"/>
                <a:sym typeface="Fira Code"/>
              </a:rPr>
              <a:t>Window Update</a:t>
            </a:r>
            <a:endParaRPr sz="1100"/>
          </a:p>
        </p:txBody>
      </p:sp>
      <p:sp>
        <p:nvSpPr>
          <p:cNvPr id="241" name="Google Shape;241;p29"/>
          <p:cNvSpPr txBox="1"/>
          <p:nvPr/>
        </p:nvSpPr>
        <p:spPr>
          <a:xfrm>
            <a:off x="664369" y="2818209"/>
            <a:ext cx="8054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receptor se llena y envía </a:t>
            </a:r>
            <a:r>
              <a:rPr b="1" i="0" lang="es" sz="1000" u="none" cap="none" strike="noStrike">
                <a:solidFill>
                  <a:srgbClr val="7A001E"/>
                </a:solidFill>
                <a:latin typeface="Inter"/>
                <a:ea typeface="Inter"/>
                <a:cs typeface="Inter"/>
                <a:sym typeface="Inter"/>
              </a:rPr>
              <a:t>rwnd = 0</a:t>
            </a: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. El emisor frena.</a:t>
            </a:r>
            <a:endParaRPr sz="1100"/>
          </a:p>
        </p:txBody>
      </p:sp>
      <p:sp>
        <p:nvSpPr>
          <p:cNvPr id="242" name="Google Shape;242;p29"/>
          <p:cNvSpPr txBox="1"/>
          <p:nvPr/>
        </p:nvSpPr>
        <p:spPr>
          <a:xfrm>
            <a:off x="664369" y="3618309"/>
            <a:ext cx="79653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emisor activa el </a:t>
            </a:r>
            <a:r>
              <a:rPr b="1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Persist Timer</a:t>
            </a: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y consulta con 1 byte periódicamente.</a:t>
            </a:r>
            <a:endParaRPr sz="1100"/>
          </a:p>
        </p:txBody>
      </p:sp>
      <p:sp>
        <p:nvSpPr>
          <p:cNvPr id="243" name="Google Shape;243;p29"/>
          <p:cNvSpPr txBox="1"/>
          <p:nvPr/>
        </p:nvSpPr>
        <p:spPr>
          <a:xfrm>
            <a:off x="664369" y="4396978"/>
            <a:ext cx="80547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El receptor libera espacio y avisa </a:t>
            </a:r>
            <a:r>
              <a:rPr b="1" i="0" lang="es" sz="1000" u="none" cap="none" strike="noStrike">
                <a:solidFill>
                  <a:srgbClr val="16A34A"/>
                </a:solidFill>
                <a:latin typeface="Inter"/>
                <a:ea typeface="Inter"/>
                <a:cs typeface="Inter"/>
                <a:sym typeface="Inter"/>
              </a:rPr>
              <a:t>rwnd &gt; 0</a:t>
            </a: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para reanudar.</a:t>
            </a:r>
            <a:endParaRPr sz="1100"/>
          </a:p>
        </p:txBody>
      </p:sp>
      <p:sp>
        <p:nvSpPr>
          <p:cNvPr id="244" name="Google Shape;244;p29"/>
          <p:cNvSpPr txBox="1"/>
          <p:nvPr/>
        </p:nvSpPr>
        <p:spPr>
          <a:xfrm>
            <a:off x="907256" y="2603897"/>
            <a:ext cx="2447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 Anuncio Zero Window</a:t>
            </a:r>
            <a:endParaRPr sz="1100"/>
          </a:p>
        </p:txBody>
      </p:sp>
      <p:sp>
        <p:nvSpPr>
          <p:cNvPr id="245" name="Google Shape;245;p29"/>
          <p:cNvSpPr txBox="1"/>
          <p:nvPr/>
        </p:nvSpPr>
        <p:spPr>
          <a:xfrm>
            <a:off x="907256" y="3403996"/>
            <a:ext cx="2231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Zero Window Probe</a:t>
            </a:r>
            <a:endParaRPr sz="1100"/>
          </a:p>
        </p:txBody>
      </p:sp>
      <p:sp>
        <p:nvSpPr>
          <p:cNvPr id="246" name="Google Shape;246;p29"/>
          <p:cNvSpPr txBox="1"/>
          <p:nvPr/>
        </p:nvSpPr>
        <p:spPr>
          <a:xfrm>
            <a:off x="928688" y="4182665"/>
            <a:ext cx="18564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3. Window Update</a:t>
            </a:r>
            <a:endParaRPr sz="1100"/>
          </a:p>
        </p:txBody>
      </p:sp>
      <p:pic>
        <p:nvPicPr>
          <p:cNvPr id="247" name="Google Shape;24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200" y="1604324"/>
            <a:ext cx="8229599" cy="55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/>
          <p:nvPr/>
        </p:nvSpPr>
        <p:spPr>
          <a:xfrm>
            <a:off x="457200" y="964342"/>
            <a:ext cx="2628900" cy="939000"/>
          </a:xfrm>
          <a:prstGeom prst="roundRect">
            <a:avLst>
              <a:gd fmla="val 6382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0"/>
          <p:cNvSpPr/>
          <p:nvPr/>
        </p:nvSpPr>
        <p:spPr>
          <a:xfrm>
            <a:off x="3257553" y="964342"/>
            <a:ext cx="2628900" cy="939000"/>
          </a:xfrm>
          <a:prstGeom prst="roundRect">
            <a:avLst>
              <a:gd fmla="val 6382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30"/>
          <p:cNvSpPr/>
          <p:nvPr/>
        </p:nvSpPr>
        <p:spPr>
          <a:xfrm>
            <a:off x="6057905" y="956850"/>
            <a:ext cx="2628900" cy="954000"/>
          </a:xfrm>
          <a:prstGeom prst="roundRect">
            <a:avLst>
              <a:gd fmla="val 6282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30"/>
          <p:cNvSpPr txBox="1"/>
          <p:nvPr/>
        </p:nvSpPr>
        <p:spPr>
          <a:xfrm>
            <a:off x="457200" y="342900"/>
            <a:ext cx="830103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7A001E"/>
                </a:solidFill>
                <a:latin typeface="Inter"/>
                <a:ea typeface="Inter"/>
                <a:cs typeface="Inter"/>
                <a:sym typeface="Inter"/>
              </a:rPr>
              <a:t>Mecanismo 2</a:t>
            </a:r>
            <a:endParaRPr sz="1100"/>
          </a:p>
        </p:txBody>
      </p:sp>
      <p:sp>
        <p:nvSpPr>
          <p:cNvPr id="256" name="Google Shape;256;p30"/>
          <p:cNvSpPr txBox="1"/>
          <p:nvPr/>
        </p:nvSpPr>
        <p:spPr>
          <a:xfrm>
            <a:off x="457200" y="514350"/>
            <a:ext cx="8686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Control de Congestión: Protege la Red</a:t>
            </a:r>
            <a:endParaRPr sz="1100"/>
          </a:p>
        </p:txBody>
      </p:sp>
      <p:sp>
        <p:nvSpPr>
          <p:cNvPr id="257" name="Google Shape;257;p30"/>
          <p:cNvSpPr txBox="1"/>
          <p:nvPr/>
        </p:nvSpPr>
        <p:spPr>
          <a:xfrm>
            <a:off x="692944" y="1129170"/>
            <a:ext cx="283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1. cwnd</a:t>
            </a:r>
            <a:endParaRPr sz="1100"/>
          </a:p>
        </p:txBody>
      </p:sp>
      <p:sp>
        <p:nvSpPr>
          <p:cNvPr id="258" name="Google Shape;258;p30"/>
          <p:cNvSpPr txBox="1"/>
          <p:nvPr/>
        </p:nvSpPr>
        <p:spPr>
          <a:xfrm>
            <a:off x="692944" y="1333957"/>
            <a:ext cx="2229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Congestion Window:</a:t>
            </a: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Estimación dinámica del emisor sobre la capacidad de la red.</a:t>
            </a:r>
            <a:endParaRPr sz="1100"/>
          </a:p>
        </p:txBody>
      </p:sp>
      <p:sp>
        <p:nvSpPr>
          <p:cNvPr id="259" name="Google Shape;259;p30"/>
          <p:cNvSpPr txBox="1"/>
          <p:nvPr/>
        </p:nvSpPr>
        <p:spPr>
          <a:xfrm>
            <a:off x="3493297" y="1129170"/>
            <a:ext cx="283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2. ssthresh</a:t>
            </a:r>
            <a:endParaRPr sz="1100"/>
          </a:p>
        </p:txBody>
      </p:sp>
      <p:sp>
        <p:nvSpPr>
          <p:cNvPr id="260" name="Google Shape;260;p30"/>
          <p:cNvSpPr txBox="1"/>
          <p:nvPr/>
        </p:nvSpPr>
        <p:spPr>
          <a:xfrm>
            <a:off x="3493297" y="1333957"/>
            <a:ext cx="222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Threshold:</a:t>
            </a:r>
            <a:r>
              <a:rPr b="0" i="0" lang="es" sz="1000" u="none" cap="none" strike="noStrike">
                <a:solidFill>
                  <a:srgbClr val="334155"/>
                </a:solidFill>
                <a:latin typeface="Inter"/>
                <a:ea typeface="Inter"/>
                <a:cs typeface="Inter"/>
                <a:sym typeface="Inter"/>
              </a:rPr>
              <a:t> Umbral que conmuta entre fase exponencial y fase lineal.</a:t>
            </a:r>
            <a:endParaRPr sz="1100"/>
          </a:p>
        </p:txBody>
      </p:sp>
      <p:sp>
        <p:nvSpPr>
          <p:cNvPr id="261" name="Google Shape;261;p30"/>
          <p:cNvSpPr txBox="1"/>
          <p:nvPr/>
        </p:nvSpPr>
        <p:spPr>
          <a:xfrm>
            <a:off x="6293649" y="1121678"/>
            <a:ext cx="2831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7A001E"/>
                </a:solidFill>
                <a:latin typeface="Inter"/>
                <a:ea typeface="Inter"/>
                <a:cs typeface="Inter"/>
                <a:sym typeface="Inter"/>
              </a:rPr>
              <a:t>3. Regla MaxWin</a:t>
            </a:r>
            <a:endParaRPr sz="1100"/>
          </a:p>
        </p:txBody>
      </p:sp>
      <p:sp>
        <p:nvSpPr>
          <p:cNvPr id="262" name="Google Shape;262;p30"/>
          <p:cNvSpPr txBox="1"/>
          <p:nvPr/>
        </p:nvSpPr>
        <p:spPr>
          <a:xfrm>
            <a:off x="6293649" y="1326464"/>
            <a:ext cx="26967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Min(rwnd, cwnd)</a:t>
            </a:r>
            <a:endParaRPr sz="1100"/>
          </a:p>
        </p:txBody>
      </p:sp>
      <p:sp>
        <p:nvSpPr>
          <p:cNvPr id="263" name="Google Shape;263;p30"/>
          <p:cNvSpPr txBox="1"/>
          <p:nvPr/>
        </p:nvSpPr>
        <p:spPr>
          <a:xfrm>
            <a:off x="6293649" y="1546235"/>
            <a:ext cx="222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64748B"/>
                </a:solidFill>
                <a:latin typeface="Inter"/>
                <a:ea typeface="Inter"/>
                <a:cs typeface="Inter"/>
                <a:sym typeface="Inter"/>
              </a:rPr>
              <a:t>El envío respeta siempre el menor cuello de botella.</a:t>
            </a:r>
            <a:endParaRPr sz="1100"/>
          </a:p>
        </p:txBody>
      </p:sp>
      <p:pic>
        <p:nvPicPr>
          <p:cNvPr id="264" name="Google Shape;26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2300" y="2029352"/>
            <a:ext cx="7070851" cy="2996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/>
          <p:nvPr/>
        </p:nvSpPr>
        <p:spPr>
          <a:xfrm>
            <a:off x="457200" y="910050"/>
            <a:ext cx="4029000" cy="1419900"/>
          </a:xfrm>
          <a:prstGeom prst="roundRect">
            <a:avLst>
              <a:gd fmla="val 217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31"/>
          <p:cNvSpPr/>
          <p:nvPr/>
        </p:nvSpPr>
        <p:spPr>
          <a:xfrm>
            <a:off x="4657725" y="910050"/>
            <a:ext cx="4029000" cy="1419900"/>
          </a:xfrm>
          <a:prstGeom prst="roundRect">
            <a:avLst>
              <a:gd fmla="val 2173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1"/>
          <p:cNvSpPr txBox="1"/>
          <p:nvPr/>
        </p:nvSpPr>
        <p:spPr>
          <a:xfrm>
            <a:off x="457200" y="285750"/>
            <a:ext cx="830103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7A001E"/>
                </a:solidFill>
                <a:latin typeface="Inter"/>
                <a:ea typeface="Inter"/>
                <a:cs typeface="Inter"/>
                <a:sym typeface="Inter"/>
              </a:rPr>
              <a:t>Algoritmos</a:t>
            </a:r>
            <a:endParaRPr sz="1100"/>
          </a:p>
        </p:txBody>
      </p:sp>
      <p:sp>
        <p:nvSpPr>
          <p:cNvPr id="272" name="Google Shape;272;p31"/>
          <p:cNvSpPr txBox="1"/>
          <p:nvPr/>
        </p:nvSpPr>
        <p:spPr>
          <a:xfrm>
            <a:off x="457200" y="457200"/>
            <a:ext cx="8686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Slow Start vs Congestion Avoidance</a:t>
            </a:r>
            <a:endParaRPr sz="1100"/>
          </a:p>
        </p:txBody>
      </p:sp>
      <p:sp>
        <p:nvSpPr>
          <p:cNvPr id="273" name="Google Shape;273;p31"/>
          <p:cNvSpPr txBox="1"/>
          <p:nvPr/>
        </p:nvSpPr>
        <p:spPr>
          <a:xfrm>
            <a:off x="664369" y="958369"/>
            <a:ext cx="4744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7A001E"/>
                </a:solidFill>
                <a:latin typeface="Inter"/>
                <a:ea typeface="Inter"/>
                <a:cs typeface="Inter"/>
                <a:sym typeface="Inter"/>
              </a:rPr>
              <a:t>Slow Start (Exponencial)</a:t>
            </a:r>
            <a:endParaRPr sz="1100"/>
          </a:p>
        </p:txBody>
      </p:sp>
      <p:sp>
        <p:nvSpPr>
          <p:cNvPr id="274" name="Google Shape;274;p31"/>
          <p:cNvSpPr txBox="1"/>
          <p:nvPr/>
        </p:nvSpPr>
        <p:spPr>
          <a:xfrm>
            <a:off x="4864894" y="958369"/>
            <a:ext cx="42792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4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Congestion Avoidance (Lineal)</a:t>
            </a:r>
            <a:endParaRPr sz="1100"/>
          </a:p>
        </p:txBody>
      </p:sp>
      <p:sp>
        <p:nvSpPr>
          <p:cNvPr id="275" name="Google Shape;275;p31"/>
          <p:cNvSpPr txBox="1"/>
          <p:nvPr/>
        </p:nvSpPr>
        <p:spPr>
          <a:xfrm>
            <a:off x="664369" y="1279838"/>
            <a:ext cx="4518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Inicio:</a:t>
            </a:r>
            <a:r>
              <a:rPr b="0" i="0" lang="e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Conexión nueva o tras Timeout.</a:t>
            </a:r>
            <a:endParaRPr sz="1100"/>
          </a:p>
        </p:txBody>
      </p:sp>
      <p:sp>
        <p:nvSpPr>
          <p:cNvPr id="276" name="Google Shape;276;p31"/>
          <p:cNvSpPr txBox="1"/>
          <p:nvPr/>
        </p:nvSpPr>
        <p:spPr>
          <a:xfrm>
            <a:off x="664369" y="1529869"/>
            <a:ext cx="4518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Incremento:</a:t>
            </a:r>
            <a:r>
              <a:rPr b="0" i="0" lang="e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+1 MSS por cada ACK recibido.</a:t>
            </a:r>
            <a:endParaRPr sz="1100"/>
          </a:p>
        </p:txBody>
      </p:sp>
      <p:sp>
        <p:nvSpPr>
          <p:cNvPr id="277" name="Google Shape;277;p31"/>
          <p:cNvSpPr txBox="1"/>
          <p:nvPr/>
        </p:nvSpPr>
        <p:spPr>
          <a:xfrm>
            <a:off x="664369" y="1794188"/>
            <a:ext cx="4518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Ritmo:</a:t>
            </a:r>
            <a:r>
              <a:rPr b="0" i="0" lang="e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Se </a:t>
            </a:r>
            <a:r>
              <a:rPr b="1" i="0" lang="e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duplica cada RTT</a:t>
            </a:r>
            <a:r>
              <a:rPr b="0" i="0" lang="e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/>
          </a:p>
        </p:txBody>
      </p:sp>
      <p:sp>
        <p:nvSpPr>
          <p:cNvPr id="278" name="Google Shape;278;p31"/>
          <p:cNvSpPr txBox="1"/>
          <p:nvPr/>
        </p:nvSpPr>
        <p:spPr>
          <a:xfrm>
            <a:off x="664369" y="2044219"/>
            <a:ext cx="45183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Límite:</a:t>
            </a:r>
            <a:r>
              <a:rPr b="0" i="0" lang="e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Alcanzar el umbral ssthresh.</a:t>
            </a:r>
            <a:endParaRPr sz="1100"/>
          </a:p>
        </p:txBody>
      </p:sp>
      <p:sp>
        <p:nvSpPr>
          <p:cNvPr id="279" name="Google Shape;279;p31"/>
          <p:cNvSpPr txBox="1"/>
          <p:nvPr/>
        </p:nvSpPr>
        <p:spPr>
          <a:xfrm>
            <a:off x="4864894" y="1279838"/>
            <a:ext cx="4279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Inicio:</a:t>
            </a:r>
            <a:r>
              <a:rPr b="0" i="0" lang="e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Al alcanzar o superar ssthresh.</a:t>
            </a:r>
            <a:endParaRPr sz="1100"/>
          </a:p>
        </p:txBody>
      </p:sp>
      <p:sp>
        <p:nvSpPr>
          <p:cNvPr id="280" name="Google Shape;280;p31"/>
          <p:cNvSpPr txBox="1"/>
          <p:nvPr/>
        </p:nvSpPr>
        <p:spPr>
          <a:xfrm>
            <a:off x="4864894" y="1544156"/>
            <a:ext cx="4279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Incremento:</a:t>
            </a:r>
            <a:r>
              <a:rPr b="0" i="0" lang="e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Crecimiento prudente por ACK.</a:t>
            </a:r>
            <a:endParaRPr sz="1100"/>
          </a:p>
        </p:txBody>
      </p:sp>
      <p:sp>
        <p:nvSpPr>
          <p:cNvPr id="281" name="Google Shape;281;p31"/>
          <p:cNvSpPr txBox="1"/>
          <p:nvPr/>
        </p:nvSpPr>
        <p:spPr>
          <a:xfrm>
            <a:off x="4864894" y="1794188"/>
            <a:ext cx="4279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Ritmo:</a:t>
            </a:r>
            <a:r>
              <a:rPr b="0" i="0" lang="e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Suma </a:t>
            </a:r>
            <a:r>
              <a:rPr b="1" i="0" lang="e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1 MSS por RTT completo</a:t>
            </a:r>
            <a:r>
              <a:rPr b="0" i="0" lang="e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 sz="1100"/>
          </a:p>
        </p:txBody>
      </p:sp>
      <p:sp>
        <p:nvSpPr>
          <p:cNvPr id="282" name="Google Shape;282;p31"/>
          <p:cNvSpPr txBox="1"/>
          <p:nvPr/>
        </p:nvSpPr>
        <p:spPr>
          <a:xfrm>
            <a:off x="4864894" y="2044219"/>
            <a:ext cx="42792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Objetivo:</a:t>
            </a:r>
            <a:r>
              <a:rPr b="0" i="0" lang="es" sz="11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Explorar la red sin provocar caídas.</a:t>
            </a:r>
            <a:endParaRPr sz="1100"/>
          </a:p>
        </p:txBody>
      </p:sp>
      <p:sp>
        <p:nvSpPr>
          <p:cNvPr id="283" name="Google Shape;283;p31"/>
          <p:cNvSpPr/>
          <p:nvPr/>
        </p:nvSpPr>
        <p:spPr>
          <a:xfrm>
            <a:off x="457125" y="3268276"/>
            <a:ext cx="4043400" cy="1629600"/>
          </a:xfrm>
          <a:prstGeom prst="roundRect">
            <a:avLst>
              <a:gd fmla="val 503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1"/>
          <p:cNvSpPr/>
          <p:nvPr/>
        </p:nvSpPr>
        <p:spPr>
          <a:xfrm>
            <a:off x="4643369" y="3268276"/>
            <a:ext cx="4043400" cy="1629600"/>
          </a:xfrm>
          <a:prstGeom prst="roundRect">
            <a:avLst>
              <a:gd fmla="val 5030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1"/>
          <p:cNvSpPr/>
          <p:nvPr/>
        </p:nvSpPr>
        <p:spPr>
          <a:xfrm>
            <a:off x="635719" y="4157393"/>
            <a:ext cx="3686100" cy="500100"/>
          </a:xfrm>
          <a:prstGeom prst="roundRect">
            <a:avLst>
              <a:gd fmla="val 8571" name="adj"/>
            </a:avLst>
          </a:prstGeom>
          <a:solidFill>
            <a:srgbClr val="FEF2F2"/>
          </a:solidFill>
          <a:ln cap="flat" cmpd="sng" w="9525">
            <a:solidFill>
              <a:srgbClr val="FECAC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1"/>
          <p:cNvSpPr/>
          <p:nvPr/>
        </p:nvSpPr>
        <p:spPr>
          <a:xfrm>
            <a:off x="4821956" y="4157393"/>
            <a:ext cx="3686100" cy="500100"/>
          </a:xfrm>
          <a:prstGeom prst="roundRect">
            <a:avLst>
              <a:gd fmla="val 8571" name="adj"/>
            </a:avLst>
          </a:prstGeom>
          <a:solidFill>
            <a:srgbClr val="FFFBE0"/>
          </a:solidFill>
          <a:ln cap="flat" cmpd="sng" w="9525">
            <a:solidFill>
              <a:srgbClr val="FEF0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87" name="Google Shape;28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5719" y="3523163"/>
            <a:ext cx="157163" cy="1571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1956" y="3523163"/>
            <a:ext cx="135731" cy="157163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31"/>
          <p:cNvSpPr txBox="1"/>
          <p:nvPr/>
        </p:nvSpPr>
        <p:spPr>
          <a:xfrm>
            <a:off x="457125" y="2691025"/>
            <a:ext cx="83010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7A001E"/>
                </a:solidFill>
                <a:latin typeface="Inter"/>
                <a:ea typeface="Inter"/>
                <a:cs typeface="Inter"/>
                <a:sym typeface="Inter"/>
              </a:rPr>
              <a:t>Pérdida de Paquetes</a:t>
            </a:r>
            <a:endParaRPr sz="1100"/>
          </a:p>
        </p:txBody>
      </p:sp>
      <p:sp>
        <p:nvSpPr>
          <p:cNvPr id="290" name="Google Shape;290;p31"/>
          <p:cNvSpPr txBox="1"/>
          <p:nvPr/>
        </p:nvSpPr>
        <p:spPr>
          <a:xfrm>
            <a:off x="457125" y="2862475"/>
            <a:ext cx="86868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9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Detección: Timeout vs 3 ACKs Duplicados</a:t>
            </a:r>
            <a:endParaRPr sz="1100"/>
          </a:p>
        </p:txBody>
      </p:sp>
      <p:sp>
        <p:nvSpPr>
          <p:cNvPr id="291" name="Google Shape;291;p31"/>
          <p:cNvSpPr txBox="1"/>
          <p:nvPr/>
        </p:nvSpPr>
        <p:spPr>
          <a:xfrm>
            <a:off x="635719" y="3508875"/>
            <a:ext cx="4838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5717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DC2626"/>
                </a:solidFill>
                <a:latin typeface="Inter"/>
                <a:ea typeface="Inter"/>
                <a:cs typeface="Inter"/>
                <a:sym typeface="Inter"/>
              </a:rPr>
              <a:t>1. RTO Timeout</a:t>
            </a:r>
            <a:endParaRPr sz="1100"/>
          </a:p>
        </p:txBody>
      </p:sp>
      <p:sp>
        <p:nvSpPr>
          <p:cNvPr id="292" name="Google Shape;292;p31"/>
          <p:cNvSpPr txBox="1"/>
          <p:nvPr/>
        </p:nvSpPr>
        <p:spPr>
          <a:xfrm>
            <a:off x="635719" y="3751763"/>
            <a:ext cx="375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Expiración del temporizador. Señal de </a:t>
            </a:r>
            <a:r>
              <a:rPr b="1" i="0" lang="es" sz="1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congestión grave</a:t>
            </a:r>
            <a:r>
              <a:rPr b="0" i="0" lang="es" sz="1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en los routers.</a:t>
            </a:r>
            <a:endParaRPr sz="1100"/>
          </a:p>
        </p:txBody>
      </p:sp>
      <p:sp>
        <p:nvSpPr>
          <p:cNvPr id="293" name="Google Shape;293;p31"/>
          <p:cNvSpPr txBox="1"/>
          <p:nvPr/>
        </p:nvSpPr>
        <p:spPr>
          <a:xfrm>
            <a:off x="735731" y="4228831"/>
            <a:ext cx="355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991B1B"/>
                </a:solidFill>
                <a:latin typeface="Fira Code"/>
                <a:ea typeface="Fira Code"/>
                <a:cs typeface="Fira Code"/>
                <a:sym typeface="Fira Code"/>
              </a:rPr>
              <a:t>ssthresh = cwnd / 2 | cwnd = 1 MSS (Slow Start)</a:t>
            </a:r>
            <a:endParaRPr sz="1100"/>
          </a:p>
        </p:txBody>
      </p:sp>
      <p:sp>
        <p:nvSpPr>
          <p:cNvPr id="294" name="Google Shape;294;p31"/>
          <p:cNvSpPr txBox="1"/>
          <p:nvPr/>
        </p:nvSpPr>
        <p:spPr>
          <a:xfrm>
            <a:off x="4821956" y="3508875"/>
            <a:ext cx="43221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5725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D97706"/>
                </a:solidFill>
                <a:latin typeface="Inter"/>
                <a:ea typeface="Inter"/>
                <a:cs typeface="Inter"/>
                <a:sym typeface="Inter"/>
              </a:rPr>
              <a:t>2. 3 ACKs Duplicados</a:t>
            </a:r>
            <a:endParaRPr sz="1100"/>
          </a:p>
        </p:txBody>
      </p:sp>
      <p:sp>
        <p:nvSpPr>
          <p:cNvPr id="295" name="Google Shape;295;p31"/>
          <p:cNvSpPr txBox="1"/>
          <p:nvPr/>
        </p:nvSpPr>
        <p:spPr>
          <a:xfrm>
            <a:off x="4821956" y="3751763"/>
            <a:ext cx="37575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Llegada de 3 ACKs repetidos. Señal de </a:t>
            </a:r>
            <a:r>
              <a:rPr b="1" i="0" lang="es" sz="1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pérdida aislada</a:t>
            </a:r>
            <a:r>
              <a:rPr b="0" i="0" lang="es" sz="1000" u="none" cap="none" strike="noStrike">
                <a:solidFill>
                  <a:srgbClr val="1E293B"/>
                </a:solidFill>
                <a:latin typeface="Inter"/>
                <a:ea typeface="Inter"/>
                <a:cs typeface="Inter"/>
                <a:sym typeface="Inter"/>
              </a:rPr>
              <a:t> o desorden.</a:t>
            </a:r>
            <a:endParaRPr sz="1100"/>
          </a:p>
        </p:txBody>
      </p:sp>
      <p:sp>
        <p:nvSpPr>
          <p:cNvPr id="296" name="Google Shape;296;p31"/>
          <p:cNvSpPr txBox="1"/>
          <p:nvPr/>
        </p:nvSpPr>
        <p:spPr>
          <a:xfrm>
            <a:off x="4921969" y="4228831"/>
            <a:ext cx="3557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854D0E"/>
                </a:solidFill>
                <a:latin typeface="Fira Code"/>
                <a:ea typeface="Fira Code"/>
                <a:cs typeface="Fira Code"/>
                <a:sym typeface="Fira Code"/>
              </a:rPr>
              <a:t>Fast Retransmit inmediato | Acción según Tahoe / Reno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2"/>
          <p:cNvSpPr/>
          <p:nvPr/>
        </p:nvSpPr>
        <p:spPr>
          <a:xfrm>
            <a:off x="457200" y="297825"/>
            <a:ext cx="8229600" cy="4204200"/>
          </a:xfrm>
          <a:prstGeom prst="roundRect">
            <a:avLst>
              <a:gd fmla="val 2298" name="adj"/>
            </a:avLst>
          </a:prstGeom>
          <a:solidFill>
            <a:srgbClr val="0F172A"/>
          </a:solidFill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2"/>
          <p:cNvSpPr/>
          <p:nvPr/>
        </p:nvSpPr>
        <p:spPr>
          <a:xfrm>
            <a:off x="564356" y="1339081"/>
            <a:ext cx="8015400" cy="2507400"/>
          </a:xfrm>
          <a:prstGeom prst="roundRect">
            <a:avLst>
              <a:gd fmla="val 1709" name="adj"/>
            </a:avLst>
          </a:prstGeom>
          <a:noFill/>
          <a:ln cap="flat" cmpd="sng" w="9525">
            <a:solidFill>
              <a:srgbClr val="334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2"/>
          <p:cNvSpPr/>
          <p:nvPr/>
        </p:nvSpPr>
        <p:spPr>
          <a:xfrm>
            <a:off x="4862996" y="953318"/>
            <a:ext cx="3688200" cy="314400"/>
          </a:xfrm>
          <a:prstGeom prst="roundRect">
            <a:avLst>
              <a:gd fmla="val 9090" name="adj"/>
            </a:avLst>
          </a:prstGeom>
          <a:solidFill>
            <a:srgbClr val="1E293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2"/>
          <p:cNvSpPr/>
          <p:nvPr/>
        </p:nvSpPr>
        <p:spPr>
          <a:xfrm>
            <a:off x="571500" y="1346225"/>
            <a:ext cx="8001000" cy="2571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2"/>
          <p:cNvSpPr/>
          <p:nvPr/>
        </p:nvSpPr>
        <p:spPr>
          <a:xfrm>
            <a:off x="571500" y="1603400"/>
            <a:ext cx="8001000" cy="278700"/>
          </a:xfrm>
          <a:prstGeom prst="rect">
            <a:avLst/>
          </a:prstGeom>
          <a:solidFill>
            <a:srgbClr val="162032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2"/>
          <p:cNvSpPr/>
          <p:nvPr/>
        </p:nvSpPr>
        <p:spPr>
          <a:xfrm>
            <a:off x="571500" y="1882006"/>
            <a:ext cx="8001000" cy="478500"/>
          </a:xfrm>
          <a:prstGeom prst="rect">
            <a:avLst/>
          </a:prstGeom>
          <a:solidFill>
            <a:srgbClr val="42200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2"/>
          <p:cNvSpPr/>
          <p:nvPr/>
        </p:nvSpPr>
        <p:spPr>
          <a:xfrm>
            <a:off x="571500" y="2360637"/>
            <a:ext cx="8001000" cy="478500"/>
          </a:xfrm>
          <a:prstGeom prst="rect">
            <a:avLst/>
          </a:prstGeom>
          <a:solidFill>
            <a:srgbClr val="422006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2"/>
          <p:cNvSpPr/>
          <p:nvPr/>
        </p:nvSpPr>
        <p:spPr>
          <a:xfrm>
            <a:off x="571500" y="2839268"/>
            <a:ext cx="8001000" cy="514500"/>
          </a:xfrm>
          <a:prstGeom prst="rect">
            <a:avLst/>
          </a:prstGeom>
          <a:solidFill>
            <a:srgbClr val="713F12"/>
          </a:solidFill>
          <a:ln cap="flat" cmpd="sng" w="19050">
            <a:solidFill>
              <a:srgbClr val="EAB30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2"/>
          <p:cNvSpPr/>
          <p:nvPr/>
        </p:nvSpPr>
        <p:spPr>
          <a:xfrm>
            <a:off x="571500" y="3353618"/>
            <a:ext cx="8001000" cy="485700"/>
          </a:xfrm>
          <a:prstGeom prst="rect">
            <a:avLst/>
          </a:prstGeom>
          <a:solidFill>
            <a:srgbClr val="450A0A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2"/>
          <p:cNvSpPr/>
          <p:nvPr/>
        </p:nvSpPr>
        <p:spPr>
          <a:xfrm>
            <a:off x="571500" y="1596256"/>
            <a:ext cx="8001000" cy="7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2"/>
          <p:cNvSpPr/>
          <p:nvPr/>
        </p:nvSpPr>
        <p:spPr>
          <a:xfrm>
            <a:off x="571500" y="1874862"/>
            <a:ext cx="8001000" cy="72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2"/>
          <p:cNvSpPr/>
          <p:nvPr/>
        </p:nvSpPr>
        <p:spPr>
          <a:xfrm>
            <a:off x="571500" y="2353493"/>
            <a:ext cx="8001000" cy="720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2"/>
          <p:cNvSpPr/>
          <p:nvPr/>
        </p:nvSpPr>
        <p:spPr>
          <a:xfrm>
            <a:off x="571500" y="2832125"/>
            <a:ext cx="8001000" cy="7200"/>
          </a:xfrm>
          <a:prstGeom prst="rect">
            <a:avLst/>
          </a:prstGeom>
          <a:solidFill>
            <a:srgbClr val="78350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314" name="Google Shape;31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2931" y="1053331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2"/>
          <p:cNvSpPr txBox="1"/>
          <p:nvPr/>
        </p:nvSpPr>
        <p:spPr>
          <a:xfrm>
            <a:off x="764381" y="960462"/>
            <a:ext cx="4170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9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Wireshark Real: Secuencia 3 Dup ACKs → Fast Retransmit (MSS=1460)</a:t>
            </a:r>
            <a:endParaRPr sz="1100"/>
          </a:p>
        </p:txBody>
      </p:sp>
      <p:sp>
        <p:nvSpPr>
          <p:cNvPr id="316" name="Google Shape;316;p32"/>
          <p:cNvSpPr txBox="1"/>
          <p:nvPr/>
        </p:nvSpPr>
        <p:spPr>
          <a:xfrm>
            <a:off x="4948721" y="974750"/>
            <a:ext cx="3588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38BDF8"/>
                </a:solidFill>
                <a:latin typeface="Fira Code"/>
                <a:ea typeface="Fira Code"/>
                <a:cs typeface="Fira Code"/>
                <a:sym typeface="Fira Code"/>
              </a:rPr>
              <a:t>Filtro: tcp.analysis.duplicate_ack || tcp.analysis.fast_retransmission</a:t>
            </a:r>
            <a:endParaRPr sz="1100"/>
          </a:p>
        </p:txBody>
      </p:sp>
      <p:sp>
        <p:nvSpPr>
          <p:cNvPr id="317" name="Google Shape;317;p32"/>
          <p:cNvSpPr txBox="1"/>
          <p:nvPr/>
        </p:nvSpPr>
        <p:spPr>
          <a:xfrm>
            <a:off x="657225" y="1403375"/>
            <a:ext cx="642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No.</a:t>
            </a:r>
            <a:endParaRPr sz="1100"/>
          </a:p>
        </p:txBody>
      </p:sp>
      <p:sp>
        <p:nvSpPr>
          <p:cNvPr id="318" name="Google Shape;318;p32"/>
          <p:cNvSpPr txBox="1"/>
          <p:nvPr/>
        </p:nvSpPr>
        <p:spPr>
          <a:xfrm>
            <a:off x="1085850" y="1403375"/>
            <a:ext cx="1964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Origen (IP:Puerto)</a:t>
            </a:r>
            <a:endParaRPr sz="1100"/>
          </a:p>
        </p:txBody>
      </p:sp>
      <p:sp>
        <p:nvSpPr>
          <p:cNvPr id="319" name="Google Shape;319;p32"/>
          <p:cNvSpPr txBox="1"/>
          <p:nvPr/>
        </p:nvSpPr>
        <p:spPr>
          <a:xfrm>
            <a:off x="2657475" y="1403375"/>
            <a:ext cx="19644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Destino (IP:Puerto)</a:t>
            </a:r>
            <a:endParaRPr sz="1100"/>
          </a:p>
        </p:txBody>
      </p:sp>
      <p:sp>
        <p:nvSpPr>
          <p:cNvPr id="320" name="Google Shape;320;p32"/>
          <p:cNvSpPr txBox="1"/>
          <p:nvPr/>
        </p:nvSpPr>
        <p:spPr>
          <a:xfrm>
            <a:off x="4229100" y="1403375"/>
            <a:ext cx="4914900" cy="12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94A3B8"/>
                </a:solidFill>
                <a:latin typeface="Fira Code"/>
                <a:ea typeface="Fira Code"/>
                <a:cs typeface="Fira Code"/>
                <a:sym typeface="Fira Code"/>
              </a:rPr>
              <a:t>Información del Paquete TCP</a:t>
            </a:r>
            <a:endParaRPr sz="1100"/>
          </a:p>
        </p:txBody>
      </p:sp>
      <p:sp>
        <p:nvSpPr>
          <p:cNvPr id="321" name="Google Shape;321;p32"/>
          <p:cNvSpPr txBox="1"/>
          <p:nvPr/>
        </p:nvSpPr>
        <p:spPr>
          <a:xfrm>
            <a:off x="657225" y="1660550"/>
            <a:ext cx="642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101</a:t>
            </a:r>
            <a:endParaRPr sz="1100"/>
          </a:p>
        </p:txBody>
      </p:sp>
      <p:sp>
        <p:nvSpPr>
          <p:cNvPr id="322" name="Google Shape;322;p32"/>
          <p:cNvSpPr txBox="1"/>
          <p:nvPr/>
        </p:nvSpPr>
        <p:spPr>
          <a:xfrm>
            <a:off x="1085850" y="1660550"/>
            <a:ext cx="1964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10.0.0.5:52140</a:t>
            </a:r>
            <a:endParaRPr sz="1100"/>
          </a:p>
        </p:txBody>
      </p:sp>
      <p:sp>
        <p:nvSpPr>
          <p:cNvPr id="323" name="Google Shape;323;p32"/>
          <p:cNvSpPr txBox="1"/>
          <p:nvPr/>
        </p:nvSpPr>
        <p:spPr>
          <a:xfrm>
            <a:off x="2657475" y="1660550"/>
            <a:ext cx="19644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10.0.0.1:80</a:t>
            </a:r>
            <a:endParaRPr sz="1100"/>
          </a:p>
        </p:txBody>
      </p:sp>
      <p:sp>
        <p:nvSpPr>
          <p:cNvPr id="324" name="Google Shape;324;p32"/>
          <p:cNvSpPr txBox="1"/>
          <p:nvPr/>
        </p:nvSpPr>
        <p:spPr>
          <a:xfrm>
            <a:off x="4229100" y="1660550"/>
            <a:ext cx="49149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1000" u="none" cap="none" strike="noStrike">
                <a:solidFill>
                  <a:srgbClr val="E2E8F0"/>
                </a:solidFill>
                <a:latin typeface="Fira Code"/>
                <a:ea typeface="Fira Code"/>
                <a:cs typeface="Fira Code"/>
                <a:sym typeface="Fira Code"/>
              </a:rPr>
              <a:t>[ACK] Seq=1 Ack=1461 Len=0 (Confirmó Seg 1: bytes 1..1460)</a:t>
            </a:r>
            <a:endParaRPr sz="1100"/>
          </a:p>
        </p:txBody>
      </p:sp>
      <p:sp>
        <p:nvSpPr>
          <p:cNvPr id="325" name="Google Shape;325;p32"/>
          <p:cNvSpPr txBox="1"/>
          <p:nvPr/>
        </p:nvSpPr>
        <p:spPr>
          <a:xfrm>
            <a:off x="657225" y="1946300"/>
            <a:ext cx="500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FEF08A"/>
                </a:solidFill>
                <a:latin typeface="Fira Code"/>
                <a:ea typeface="Fira Code"/>
                <a:cs typeface="Fira Code"/>
                <a:sym typeface="Fira Code"/>
              </a:rPr>
              <a:t>102</a:t>
            </a:r>
            <a:endParaRPr sz="1100"/>
          </a:p>
        </p:txBody>
      </p:sp>
      <p:sp>
        <p:nvSpPr>
          <p:cNvPr id="326" name="Google Shape;326;p32"/>
          <p:cNvSpPr txBox="1"/>
          <p:nvPr/>
        </p:nvSpPr>
        <p:spPr>
          <a:xfrm>
            <a:off x="1085850" y="1946300"/>
            <a:ext cx="1643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FEF08A"/>
                </a:solidFill>
                <a:latin typeface="Fira Code"/>
                <a:ea typeface="Fira Code"/>
                <a:cs typeface="Fira Code"/>
                <a:sym typeface="Fira Code"/>
              </a:rPr>
              <a:t>10.0.0.5:52140</a:t>
            </a:r>
            <a:endParaRPr sz="1100"/>
          </a:p>
        </p:txBody>
      </p:sp>
      <p:sp>
        <p:nvSpPr>
          <p:cNvPr id="327" name="Google Shape;327;p32"/>
          <p:cNvSpPr txBox="1"/>
          <p:nvPr/>
        </p:nvSpPr>
        <p:spPr>
          <a:xfrm>
            <a:off x="2657475" y="1946300"/>
            <a:ext cx="1643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FEF08A"/>
                </a:solidFill>
                <a:latin typeface="Fira Code"/>
                <a:ea typeface="Fira Code"/>
                <a:cs typeface="Fira Code"/>
                <a:sym typeface="Fira Code"/>
              </a:rPr>
              <a:t>10.0.0.1:80</a:t>
            </a:r>
            <a:endParaRPr sz="1100"/>
          </a:p>
        </p:txBody>
      </p:sp>
      <p:sp>
        <p:nvSpPr>
          <p:cNvPr id="328" name="Google Shape;328;p32"/>
          <p:cNvSpPr txBox="1"/>
          <p:nvPr/>
        </p:nvSpPr>
        <p:spPr>
          <a:xfrm>
            <a:off x="4229100" y="1946300"/>
            <a:ext cx="432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FEF08A"/>
                </a:solidFill>
                <a:latin typeface="Fira Code"/>
                <a:ea typeface="Fira Code"/>
                <a:cs typeface="Fira Code"/>
                <a:sym typeface="Fira Code"/>
              </a:rPr>
              <a:t>[TCP Dup ACK #1] Seq=1 Ack=1461 Len=0 (Llegó Seg 3: Seq=2921; falta Seg 2)</a:t>
            </a:r>
            <a:endParaRPr sz="1100"/>
          </a:p>
        </p:txBody>
      </p:sp>
      <p:sp>
        <p:nvSpPr>
          <p:cNvPr id="329" name="Google Shape;329;p32"/>
          <p:cNvSpPr txBox="1"/>
          <p:nvPr/>
        </p:nvSpPr>
        <p:spPr>
          <a:xfrm>
            <a:off x="657225" y="2424931"/>
            <a:ext cx="500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FEF08A"/>
                </a:solidFill>
                <a:latin typeface="Fira Code"/>
                <a:ea typeface="Fira Code"/>
                <a:cs typeface="Fira Code"/>
                <a:sym typeface="Fira Code"/>
              </a:rPr>
              <a:t>103</a:t>
            </a:r>
            <a:endParaRPr sz="1100"/>
          </a:p>
        </p:txBody>
      </p:sp>
      <p:sp>
        <p:nvSpPr>
          <p:cNvPr id="330" name="Google Shape;330;p32"/>
          <p:cNvSpPr txBox="1"/>
          <p:nvPr/>
        </p:nvSpPr>
        <p:spPr>
          <a:xfrm>
            <a:off x="1085850" y="2424931"/>
            <a:ext cx="1643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FEF08A"/>
                </a:solidFill>
                <a:latin typeface="Fira Code"/>
                <a:ea typeface="Fira Code"/>
                <a:cs typeface="Fira Code"/>
                <a:sym typeface="Fira Code"/>
              </a:rPr>
              <a:t>10.0.0.5:52140</a:t>
            </a:r>
            <a:endParaRPr sz="1100"/>
          </a:p>
        </p:txBody>
      </p:sp>
      <p:sp>
        <p:nvSpPr>
          <p:cNvPr id="331" name="Google Shape;331;p32"/>
          <p:cNvSpPr txBox="1"/>
          <p:nvPr/>
        </p:nvSpPr>
        <p:spPr>
          <a:xfrm>
            <a:off x="2657475" y="2424931"/>
            <a:ext cx="1643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FEF08A"/>
                </a:solidFill>
                <a:latin typeface="Fira Code"/>
                <a:ea typeface="Fira Code"/>
                <a:cs typeface="Fira Code"/>
                <a:sym typeface="Fira Code"/>
              </a:rPr>
              <a:t>10.0.0.1:80</a:t>
            </a:r>
            <a:endParaRPr sz="1100"/>
          </a:p>
        </p:txBody>
      </p:sp>
      <p:sp>
        <p:nvSpPr>
          <p:cNvPr id="332" name="Google Shape;332;p32"/>
          <p:cNvSpPr txBox="1"/>
          <p:nvPr/>
        </p:nvSpPr>
        <p:spPr>
          <a:xfrm>
            <a:off x="4229100" y="2424931"/>
            <a:ext cx="432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FEF08A"/>
                </a:solidFill>
                <a:latin typeface="Fira Code"/>
                <a:ea typeface="Fira Code"/>
                <a:cs typeface="Fira Code"/>
                <a:sym typeface="Fira Code"/>
              </a:rPr>
              <a:t>[TCP Dup ACK #2] Seq=1 Ack=1461 Len=0 (Llegó Seg 4: Seq=4381)</a:t>
            </a:r>
            <a:endParaRPr sz="1100"/>
          </a:p>
        </p:txBody>
      </p:sp>
      <p:sp>
        <p:nvSpPr>
          <p:cNvPr id="333" name="Google Shape;333;p32"/>
          <p:cNvSpPr txBox="1"/>
          <p:nvPr/>
        </p:nvSpPr>
        <p:spPr>
          <a:xfrm>
            <a:off x="671513" y="2924993"/>
            <a:ext cx="500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FEF08A"/>
                </a:solidFill>
                <a:latin typeface="Fira Code"/>
                <a:ea typeface="Fira Code"/>
                <a:cs typeface="Fira Code"/>
                <a:sym typeface="Fira Code"/>
              </a:rPr>
              <a:t>104</a:t>
            </a:r>
            <a:endParaRPr sz="1100"/>
          </a:p>
        </p:txBody>
      </p:sp>
      <p:sp>
        <p:nvSpPr>
          <p:cNvPr id="334" name="Google Shape;334;p32"/>
          <p:cNvSpPr txBox="1"/>
          <p:nvPr/>
        </p:nvSpPr>
        <p:spPr>
          <a:xfrm>
            <a:off x="1100138" y="2924993"/>
            <a:ext cx="1643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FEF08A"/>
                </a:solidFill>
                <a:latin typeface="Fira Code"/>
                <a:ea typeface="Fira Code"/>
                <a:cs typeface="Fira Code"/>
                <a:sym typeface="Fira Code"/>
              </a:rPr>
              <a:t>10.0.0.5:52140</a:t>
            </a:r>
            <a:endParaRPr sz="1100"/>
          </a:p>
        </p:txBody>
      </p:sp>
      <p:sp>
        <p:nvSpPr>
          <p:cNvPr id="335" name="Google Shape;335;p32"/>
          <p:cNvSpPr txBox="1"/>
          <p:nvPr/>
        </p:nvSpPr>
        <p:spPr>
          <a:xfrm>
            <a:off x="2671763" y="2924993"/>
            <a:ext cx="1643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FEF08A"/>
                </a:solidFill>
                <a:latin typeface="Fira Code"/>
                <a:ea typeface="Fira Code"/>
                <a:cs typeface="Fira Code"/>
                <a:sym typeface="Fira Code"/>
              </a:rPr>
              <a:t>10.0.0.1:80</a:t>
            </a:r>
            <a:endParaRPr sz="1100"/>
          </a:p>
        </p:txBody>
      </p:sp>
      <p:sp>
        <p:nvSpPr>
          <p:cNvPr id="336" name="Google Shape;336;p32"/>
          <p:cNvSpPr txBox="1"/>
          <p:nvPr/>
        </p:nvSpPr>
        <p:spPr>
          <a:xfrm>
            <a:off x="4243388" y="2924993"/>
            <a:ext cx="430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FEF08A"/>
                </a:solidFill>
                <a:latin typeface="Fira Code"/>
                <a:ea typeface="Fira Code"/>
                <a:cs typeface="Fira Code"/>
                <a:sym typeface="Fira Code"/>
              </a:rPr>
              <a:t>[TCP Dup ACK #3] Seq=1 Ack=1461 Len=0 ◄ ¡DISPARA FAST RETRANSMIT!</a:t>
            </a:r>
            <a:endParaRPr sz="1100"/>
          </a:p>
        </p:txBody>
      </p:sp>
      <p:sp>
        <p:nvSpPr>
          <p:cNvPr id="337" name="Google Shape;337;p32"/>
          <p:cNvSpPr txBox="1"/>
          <p:nvPr/>
        </p:nvSpPr>
        <p:spPr>
          <a:xfrm>
            <a:off x="657225" y="3425056"/>
            <a:ext cx="500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FCA5A5"/>
                </a:solidFill>
                <a:latin typeface="Fira Code"/>
                <a:ea typeface="Fira Code"/>
                <a:cs typeface="Fira Code"/>
                <a:sym typeface="Fira Code"/>
              </a:rPr>
              <a:t>105</a:t>
            </a:r>
            <a:endParaRPr sz="1100"/>
          </a:p>
        </p:txBody>
      </p:sp>
      <p:sp>
        <p:nvSpPr>
          <p:cNvPr id="338" name="Google Shape;338;p32"/>
          <p:cNvSpPr txBox="1"/>
          <p:nvPr/>
        </p:nvSpPr>
        <p:spPr>
          <a:xfrm>
            <a:off x="1085850" y="3425056"/>
            <a:ext cx="1643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FCA5A5"/>
                </a:solidFill>
                <a:latin typeface="Fira Code"/>
                <a:ea typeface="Fira Code"/>
                <a:cs typeface="Fira Code"/>
                <a:sym typeface="Fira Code"/>
              </a:rPr>
              <a:t>10.0.0.1:80</a:t>
            </a:r>
            <a:endParaRPr sz="1100"/>
          </a:p>
        </p:txBody>
      </p:sp>
      <p:sp>
        <p:nvSpPr>
          <p:cNvPr id="339" name="Google Shape;339;p32"/>
          <p:cNvSpPr txBox="1"/>
          <p:nvPr/>
        </p:nvSpPr>
        <p:spPr>
          <a:xfrm>
            <a:off x="2657475" y="3425056"/>
            <a:ext cx="16431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FCA5A5"/>
                </a:solidFill>
                <a:latin typeface="Fira Code"/>
                <a:ea typeface="Fira Code"/>
                <a:cs typeface="Fira Code"/>
                <a:sym typeface="Fira Code"/>
              </a:rPr>
              <a:t>10.0.0.5:52140</a:t>
            </a:r>
            <a:endParaRPr sz="1100"/>
          </a:p>
        </p:txBody>
      </p:sp>
      <p:sp>
        <p:nvSpPr>
          <p:cNvPr id="340" name="Google Shape;340;p32"/>
          <p:cNvSpPr txBox="1"/>
          <p:nvPr/>
        </p:nvSpPr>
        <p:spPr>
          <a:xfrm>
            <a:off x="4229100" y="3425056"/>
            <a:ext cx="43290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000" u="none" cap="none" strike="noStrike">
                <a:solidFill>
                  <a:srgbClr val="FCA5A5"/>
                </a:solidFill>
                <a:latin typeface="Fira Code"/>
                <a:ea typeface="Fira Code"/>
                <a:cs typeface="Fira Code"/>
                <a:sym typeface="Fira Code"/>
              </a:rPr>
              <a:t>[TCP Fast Retransmission] Seq=1461 Len=1460 (Retransmite Seg 2: bytes 1461..2920)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33"/>
          <p:cNvSpPr/>
          <p:nvPr/>
        </p:nvSpPr>
        <p:spPr>
          <a:xfrm>
            <a:off x="457200" y="1000125"/>
            <a:ext cx="4029000" cy="2315100"/>
          </a:xfrm>
          <a:prstGeom prst="roundRect">
            <a:avLst>
              <a:gd fmla="val 2255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3"/>
          <p:cNvSpPr/>
          <p:nvPr/>
        </p:nvSpPr>
        <p:spPr>
          <a:xfrm>
            <a:off x="4657725" y="1000125"/>
            <a:ext cx="4029000" cy="2315100"/>
          </a:xfrm>
          <a:prstGeom prst="roundRect">
            <a:avLst>
              <a:gd fmla="val 2255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3"/>
          <p:cNvSpPr/>
          <p:nvPr/>
        </p:nvSpPr>
        <p:spPr>
          <a:xfrm>
            <a:off x="664369" y="1507331"/>
            <a:ext cx="3614737" cy="307181"/>
          </a:xfrm>
          <a:prstGeom prst="roundRect">
            <a:avLst>
              <a:gd fmla="val 1395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3"/>
          <p:cNvSpPr/>
          <p:nvPr/>
        </p:nvSpPr>
        <p:spPr>
          <a:xfrm>
            <a:off x="664369" y="1885950"/>
            <a:ext cx="3614737" cy="307181"/>
          </a:xfrm>
          <a:prstGeom prst="roundRect">
            <a:avLst>
              <a:gd fmla="val 1395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3"/>
          <p:cNvSpPr/>
          <p:nvPr/>
        </p:nvSpPr>
        <p:spPr>
          <a:xfrm>
            <a:off x="664369" y="2264569"/>
            <a:ext cx="3614737" cy="307181"/>
          </a:xfrm>
          <a:prstGeom prst="roundRect">
            <a:avLst>
              <a:gd fmla="val 1395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3"/>
          <p:cNvSpPr/>
          <p:nvPr/>
        </p:nvSpPr>
        <p:spPr>
          <a:xfrm>
            <a:off x="664369" y="2643188"/>
            <a:ext cx="3614737" cy="307181"/>
          </a:xfrm>
          <a:prstGeom prst="roundRect">
            <a:avLst>
              <a:gd fmla="val 13953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3"/>
          <p:cNvSpPr/>
          <p:nvPr/>
        </p:nvSpPr>
        <p:spPr>
          <a:xfrm>
            <a:off x="4864894" y="1507331"/>
            <a:ext cx="3614738" cy="457200"/>
          </a:xfrm>
          <a:prstGeom prst="roundRect">
            <a:avLst>
              <a:gd fmla="val 937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3"/>
          <p:cNvSpPr/>
          <p:nvPr/>
        </p:nvSpPr>
        <p:spPr>
          <a:xfrm>
            <a:off x="4864894" y="2035969"/>
            <a:ext cx="3614738" cy="457200"/>
          </a:xfrm>
          <a:prstGeom prst="roundRect">
            <a:avLst>
              <a:gd fmla="val 937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3"/>
          <p:cNvSpPr/>
          <p:nvPr/>
        </p:nvSpPr>
        <p:spPr>
          <a:xfrm>
            <a:off x="4864894" y="2564606"/>
            <a:ext cx="3614738" cy="457200"/>
          </a:xfrm>
          <a:prstGeom prst="roundRect">
            <a:avLst>
              <a:gd fmla="val 9375" name="adj"/>
            </a:avLst>
          </a:prstGeom>
          <a:solidFill>
            <a:srgbClr val="F8FAFC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3"/>
          <p:cNvSpPr txBox="1"/>
          <p:nvPr/>
        </p:nvSpPr>
        <p:spPr>
          <a:xfrm>
            <a:off x="457200" y="342900"/>
            <a:ext cx="8301038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800" u="none" cap="none" strike="noStrike">
                <a:solidFill>
                  <a:srgbClr val="7A001E"/>
                </a:solidFill>
                <a:latin typeface="Inter"/>
                <a:ea typeface="Inter"/>
                <a:cs typeface="Inter"/>
                <a:sym typeface="Inter"/>
              </a:rPr>
              <a:t>Herramientas</a:t>
            </a:r>
            <a:endParaRPr sz="1100"/>
          </a:p>
        </p:txBody>
      </p:sp>
      <p:sp>
        <p:nvSpPr>
          <p:cNvPr id="355" name="Google Shape;355;p33"/>
          <p:cNvSpPr txBox="1"/>
          <p:nvPr/>
        </p:nvSpPr>
        <p:spPr>
          <a:xfrm>
            <a:off x="457200" y="514350"/>
            <a:ext cx="86868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20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Filtros Wireshark y Comandos hping3</a:t>
            </a:r>
            <a:endParaRPr sz="1100"/>
          </a:p>
        </p:txBody>
      </p:sp>
      <p:sp>
        <p:nvSpPr>
          <p:cNvPr id="356" name="Google Shape;356;p33"/>
          <p:cNvSpPr txBox="1"/>
          <p:nvPr/>
        </p:nvSpPr>
        <p:spPr>
          <a:xfrm>
            <a:off x="664369" y="1207294"/>
            <a:ext cx="4744342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7A001E"/>
                </a:solidFill>
                <a:latin typeface="Inter"/>
                <a:ea typeface="Inter"/>
                <a:cs typeface="Inter"/>
                <a:sym typeface="Inter"/>
              </a:rPr>
              <a:t>Filtros Wireshark</a:t>
            </a:r>
            <a:endParaRPr sz="1100"/>
          </a:p>
        </p:txBody>
      </p:sp>
      <p:sp>
        <p:nvSpPr>
          <p:cNvPr id="357" name="Google Shape;357;p33"/>
          <p:cNvSpPr txBox="1"/>
          <p:nvPr/>
        </p:nvSpPr>
        <p:spPr>
          <a:xfrm>
            <a:off x="4864894" y="1207294"/>
            <a:ext cx="4279106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" sz="1200" u="none" cap="none" strike="noStrike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Comandos hping3</a:t>
            </a:r>
            <a:endParaRPr sz="1100"/>
          </a:p>
        </p:txBody>
      </p:sp>
      <p:sp>
        <p:nvSpPr>
          <p:cNvPr id="358" name="Google Shape;358;p33"/>
          <p:cNvSpPr txBox="1"/>
          <p:nvPr/>
        </p:nvSpPr>
        <p:spPr>
          <a:xfrm>
            <a:off x="735806" y="1578769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tcp.analysis.zero_window</a:t>
            </a:r>
            <a:endParaRPr sz="1100"/>
          </a:p>
        </p:txBody>
      </p:sp>
      <p:sp>
        <p:nvSpPr>
          <p:cNvPr id="359" name="Google Shape;359;p33"/>
          <p:cNvSpPr txBox="1"/>
          <p:nvPr/>
        </p:nvSpPr>
        <p:spPr>
          <a:xfrm>
            <a:off x="735806" y="1957388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tcp.analysis.duplicate_ack</a:t>
            </a:r>
            <a:endParaRPr sz="1100"/>
          </a:p>
        </p:txBody>
      </p:sp>
      <p:sp>
        <p:nvSpPr>
          <p:cNvPr id="360" name="Google Shape;360;p33"/>
          <p:cNvSpPr txBox="1"/>
          <p:nvPr/>
        </p:nvSpPr>
        <p:spPr>
          <a:xfrm>
            <a:off x="735806" y="2336006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tcp.analysis.retransmission</a:t>
            </a:r>
            <a:endParaRPr sz="1100"/>
          </a:p>
        </p:txBody>
      </p:sp>
      <p:sp>
        <p:nvSpPr>
          <p:cNvPr id="361" name="Google Shape;361;p33"/>
          <p:cNvSpPr txBox="1"/>
          <p:nvPr/>
        </p:nvSpPr>
        <p:spPr>
          <a:xfrm>
            <a:off x="735806" y="2714625"/>
            <a:ext cx="3543300" cy="1643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tcp.flags.syn == 1</a:t>
            </a:r>
            <a:endParaRPr sz="1100"/>
          </a:p>
        </p:txBody>
      </p:sp>
      <p:sp>
        <p:nvSpPr>
          <p:cNvPr id="362" name="Google Shape;362;p33"/>
          <p:cNvSpPr txBox="1"/>
          <p:nvPr/>
        </p:nvSpPr>
        <p:spPr>
          <a:xfrm>
            <a:off x="4936331" y="1578769"/>
            <a:ext cx="3543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# Handshake SYN</a:t>
            </a:r>
            <a:br>
              <a:rPr b="0" i="0" lang="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 hping3 -S -p 80 10.0.0.1</a:t>
            </a:r>
            <a:endParaRPr sz="1100"/>
          </a:p>
        </p:txBody>
      </p:sp>
      <p:sp>
        <p:nvSpPr>
          <p:cNvPr id="363" name="Google Shape;363;p33"/>
          <p:cNvSpPr txBox="1"/>
          <p:nvPr/>
        </p:nvSpPr>
        <p:spPr>
          <a:xfrm>
            <a:off x="4936331" y="2107406"/>
            <a:ext cx="3543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# Envío de ACK</a:t>
            </a:r>
            <a:br>
              <a:rPr b="0" i="0" lang="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 hping3 -A -p 80 10.0.0.1</a:t>
            </a:r>
            <a:endParaRPr sz="1100"/>
          </a:p>
        </p:txBody>
      </p:sp>
      <p:sp>
        <p:nvSpPr>
          <p:cNvPr id="364" name="Google Shape;364;p33"/>
          <p:cNvSpPr txBox="1"/>
          <p:nvPr/>
        </p:nvSpPr>
        <p:spPr>
          <a:xfrm>
            <a:off x="4936331" y="2636044"/>
            <a:ext cx="35433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# Control de ventana</a:t>
            </a:r>
            <a:br>
              <a:rPr b="0" i="0" lang="e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s" sz="900" u="none" cap="none" strike="noStrike">
                <a:solidFill>
                  <a:srgbClr val="0F172A"/>
                </a:solidFill>
                <a:latin typeface="Fira Code"/>
                <a:ea typeface="Fira Code"/>
                <a:cs typeface="Fira Code"/>
                <a:sym typeface="Fira Code"/>
              </a:rPr>
              <a:t> hping3 -S -p 80 -w 64 10.0.0.1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4"/>
          <p:cNvSpPr/>
          <p:nvPr/>
        </p:nvSpPr>
        <p:spPr>
          <a:xfrm>
            <a:off x="457200" y="606825"/>
            <a:ext cx="8239800" cy="4112700"/>
          </a:xfrm>
          <a:prstGeom prst="roundRect">
            <a:avLst>
              <a:gd fmla="val 2255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4"/>
          <p:cNvSpPr txBox="1"/>
          <p:nvPr/>
        </p:nvSpPr>
        <p:spPr>
          <a:xfrm>
            <a:off x="457200" y="176400"/>
            <a:ext cx="823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Ejercicio práctico de parcial</a:t>
            </a:r>
            <a:endParaRPr sz="1100"/>
          </a:p>
        </p:txBody>
      </p:sp>
      <p:sp>
        <p:nvSpPr>
          <p:cNvPr id="371" name="Google Shape;371;p34"/>
          <p:cNvSpPr txBox="1"/>
          <p:nvPr/>
        </p:nvSpPr>
        <p:spPr>
          <a:xfrm>
            <a:off x="642625" y="778116"/>
            <a:ext cx="8239800" cy="38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Se captura una sesión de TCP entre un cliente (C) y servidor (S):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1. C→S: SYN, Seq=1000, MSS=1400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2. S→C: SYN-ACK, Seq=8000, Ack=1001, MSS=1400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3. C→S: ACK, Seq=1001, Ack=8001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4. C→S: PSH-ACK, Seq=1001, Ack=8001, Len=1000 </a:t>
            </a:r>
            <a:endParaRPr sz="10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5. S→C: ACK, Seq=8001, Ack=2001 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6. C→S: PSH-ACK, Seq=2001, Ack=8001, Len=1400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7. C→S: PSH-ACK, Seq=3401, Ack=8001, Len=400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8. S→C: ACK, Seq=8001, Ack=2001</a:t>
            </a:r>
            <a:endParaRPr sz="10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9. C→S: PSH-ACK, Seq=3801, Ack=8001, Len=1400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10. S→C: ACK, Seq=8001, Ack=2001</a:t>
            </a:r>
            <a:endParaRPr sz="10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11. C→S: PSH-ACK, Seq=5201, Ack=8001, Len=1400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12. S→C: ACK, Seq=8001, Ack=2001</a:t>
            </a:r>
            <a:endParaRPr sz="10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13. C→S: PSH-ACK, Seq=2001, Ack=8001, Len=1400</a:t>
            </a:r>
            <a:endParaRPr sz="1000">
              <a:solidFill>
                <a:srgbClr val="38761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14. S→C: ACK, Seq=8001, Ack=6601</a:t>
            </a:r>
            <a:endParaRPr sz="10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arenR"/>
            </a:pPr>
            <a:r>
              <a:rPr lang="es" sz="1100">
                <a:solidFill>
                  <a:schemeClr val="dk1"/>
                </a:solidFill>
              </a:rPr>
              <a:t>Indique cuáles son los ISN de cliente y servidor. ¿Qué representa el campo </a:t>
            </a:r>
            <a:r>
              <a:rPr lang="es" sz="1100">
                <a:solidFill>
                  <a:schemeClr val="dk1"/>
                </a:solidFill>
              </a:rPr>
              <a:t>MSS</a:t>
            </a:r>
            <a:r>
              <a:rPr lang="es" sz="1100">
                <a:solidFill>
                  <a:schemeClr val="dk1"/>
                </a:solidFill>
              </a:rPr>
              <a:t>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arenR"/>
            </a:pPr>
            <a:r>
              <a:rPr lang="es" sz="1100">
                <a:solidFill>
                  <a:schemeClr val="dk1"/>
                </a:solidFill>
              </a:rPr>
              <a:t>Indique qué situación observa. Señale las líneas afectadas y qué se representan en cada </a:t>
            </a:r>
            <a:r>
              <a:rPr lang="es" sz="1100">
                <a:solidFill>
                  <a:schemeClr val="dk1"/>
                </a:solidFill>
              </a:rPr>
              <a:t>una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b="1" sz="1100">
              <a:solidFill>
                <a:srgbClr val="38761D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arenR"/>
            </a:pPr>
            <a:r>
              <a:rPr lang="es" sz="1100">
                <a:solidFill>
                  <a:schemeClr val="dk1"/>
                </a:solidFill>
              </a:rPr>
              <a:t>¿Qué mecanismo de control actúa bajo este escenario?</a:t>
            </a:r>
            <a:endParaRPr b="1" sz="1100">
              <a:solidFill>
                <a:srgbClr val="38761D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arenR"/>
            </a:pPr>
            <a:r>
              <a:rPr lang="es" sz="1100">
                <a:solidFill>
                  <a:schemeClr val="dk1"/>
                </a:solidFill>
              </a:rPr>
              <a:t>¿Por qué en la línea 14, el servidor setea el valor de Ack=6601 cuando previamente el valor era </a:t>
            </a:r>
            <a:r>
              <a:rPr lang="es" sz="1100">
                <a:solidFill>
                  <a:schemeClr val="dk1"/>
                </a:solidFill>
              </a:rPr>
              <a:t>2001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5"/>
          <p:cNvSpPr/>
          <p:nvPr/>
        </p:nvSpPr>
        <p:spPr>
          <a:xfrm>
            <a:off x="457200" y="606825"/>
            <a:ext cx="8239800" cy="4112700"/>
          </a:xfrm>
          <a:prstGeom prst="roundRect">
            <a:avLst>
              <a:gd fmla="val 2255" name="adj"/>
            </a:avLst>
          </a:prstGeom>
          <a:solidFill>
            <a:srgbClr val="FFFFFF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5"/>
          <p:cNvSpPr txBox="1"/>
          <p:nvPr/>
        </p:nvSpPr>
        <p:spPr>
          <a:xfrm>
            <a:off x="457200" y="176400"/>
            <a:ext cx="823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00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Ejercicio práctico de parcial</a:t>
            </a:r>
            <a:endParaRPr sz="1100"/>
          </a:p>
        </p:txBody>
      </p:sp>
      <p:sp>
        <p:nvSpPr>
          <p:cNvPr id="378" name="Google Shape;378;p35"/>
          <p:cNvSpPr txBox="1"/>
          <p:nvPr/>
        </p:nvSpPr>
        <p:spPr>
          <a:xfrm>
            <a:off x="642625" y="778116"/>
            <a:ext cx="8239800" cy="38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100">
                <a:solidFill>
                  <a:schemeClr val="dk1"/>
                </a:solidFill>
              </a:rPr>
              <a:t>Se captura una sesión de TCP entre un </a:t>
            </a:r>
            <a:r>
              <a:rPr lang="es" sz="1100">
                <a:solidFill>
                  <a:schemeClr val="dk1"/>
                </a:solidFill>
                <a:highlight>
                  <a:srgbClr val="B6D7A8"/>
                </a:highlight>
              </a:rPr>
              <a:t>cliente (C)</a:t>
            </a:r>
            <a:r>
              <a:rPr lang="es" sz="1100">
                <a:solidFill>
                  <a:schemeClr val="dk1"/>
                </a:solidFill>
              </a:rPr>
              <a:t> y </a:t>
            </a:r>
            <a:r>
              <a:rPr lang="es" sz="1100">
                <a:solidFill>
                  <a:schemeClr val="dk1"/>
                </a:solidFill>
                <a:highlight>
                  <a:srgbClr val="FFE599"/>
                </a:highlight>
              </a:rPr>
              <a:t>servidor (S)</a:t>
            </a:r>
            <a:r>
              <a:rPr lang="es" sz="1100">
                <a:solidFill>
                  <a:schemeClr val="dk1"/>
                </a:solidFill>
              </a:rPr>
              <a:t>:</a:t>
            </a:r>
            <a:endParaRPr sz="1100">
              <a:solidFill>
                <a:schemeClr val="dk1"/>
              </a:solidFill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1. C→S: SYN, Seq=</a:t>
            </a:r>
            <a:r>
              <a:rPr b="1"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1000</a:t>
            </a:r>
            <a:r>
              <a:rPr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, MSS=</a:t>
            </a:r>
            <a:r>
              <a:rPr b="1"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1400</a:t>
            </a:r>
            <a:endParaRPr b="1" sz="1000">
              <a:solidFill>
                <a:schemeClr val="dk1"/>
              </a:solidFill>
              <a:highlight>
                <a:srgbClr val="B6D7A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2. S→C: SYN-ACK, Seq=8000, Ack=1001, MSS=1400</a:t>
            </a:r>
            <a:endParaRPr sz="1000">
              <a:solidFill>
                <a:schemeClr val="dk1"/>
              </a:solidFill>
              <a:highlight>
                <a:srgbClr val="FFE5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3. C→S: ACK, Seq=</a:t>
            </a:r>
            <a:r>
              <a:rPr b="1"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1001</a:t>
            </a:r>
            <a:r>
              <a:rPr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, Ack=</a:t>
            </a:r>
            <a:r>
              <a:rPr b="1"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8001</a:t>
            </a:r>
            <a:endParaRPr b="1" sz="1000">
              <a:solidFill>
                <a:schemeClr val="dk1"/>
              </a:solidFill>
              <a:highlight>
                <a:srgbClr val="B6D7A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4. C→S: PSH-ACK, Seq=</a:t>
            </a:r>
            <a:r>
              <a:rPr b="1"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1001</a:t>
            </a:r>
            <a:r>
              <a:rPr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, Ack=</a:t>
            </a:r>
            <a:r>
              <a:rPr b="1"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8001</a:t>
            </a:r>
            <a:r>
              <a:rPr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, Len=</a:t>
            </a:r>
            <a:r>
              <a:rPr b="1"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1000</a:t>
            </a:r>
            <a:r>
              <a:rPr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solidFill>
                <a:srgbClr val="38761D"/>
              </a:solidFill>
              <a:highlight>
                <a:srgbClr val="B6D7A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5. S→C: ACK, Seq=</a:t>
            </a:r>
            <a:r>
              <a:rPr b="1" lang="es" sz="1000">
                <a:solidFill>
                  <a:schemeClr val="dk1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8001</a:t>
            </a:r>
            <a:r>
              <a:rPr lang="es" sz="1000">
                <a:solidFill>
                  <a:schemeClr val="dk1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, Ack=</a:t>
            </a:r>
            <a:r>
              <a:rPr b="1" lang="es" sz="1000">
                <a:solidFill>
                  <a:schemeClr val="dk1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2001</a:t>
            </a:r>
            <a:r>
              <a:rPr lang="es" sz="1000">
                <a:solidFill>
                  <a:schemeClr val="dk1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000">
              <a:solidFill>
                <a:schemeClr val="dk1"/>
              </a:solidFill>
              <a:highlight>
                <a:srgbClr val="FFE5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6. C→S: PSH-ACK, Seq=</a:t>
            </a:r>
            <a:r>
              <a:rPr b="1"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2001</a:t>
            </a:r>
            <a:r>
              <a:rPr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, Ack=</a:t>
            </a:r>
            <a:r>
              <a:rPr b="1"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8001</a:t>
            </a:r>
            <a:r>
              <a:rPr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, Len=</a:t>
            </a:r>
            <a:r>
              <a:rPr b="1"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1400</a:t>
            </a:r>
            <a:endParaRPr b="1" sz="1000">
              <a:solidFill>
                <a:schemeClr val="dk1"/>
              </a:solidFill>
              <a:highlight>
                <a:srgbClr val="B6D7A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7. C→S: PSH-ACK, Seq=</a:t>
            </a:r>
            <a:r>
              <a:rPr b="1"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3401</a:t>
            </a:r>
            <a:r>
              <a:rPr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, Ack=</a:t>
            </a:r>
            <a:r>
              <a:rPr b="1"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8001</a:t>
            </a:r>
            <a:r>
              <a:rPr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, Len=</a:t>
            </a:r>
            <a:r>
              <a:rPr b="1"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400</a:t>
            </a:r>
            <a:endParaRPr b="1" sz="1000">
              <a:solidFill>
                <a:schemeClr val="dk1"/>
              </a:solidFill>
              <a:highlight>
                <a:srgbClr val="B6D7A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8. S→C: ACK, Seq=</a:t>
            </a:r>
            <a:r>
              <a:rPr b="1" lang="es" sz="1000">
                <a:solidFill>
                  <a:schemeClr val="dk1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8001</a:t>
            </a:r>
            <a:r>
              <a:rPr lang="es" sz="1000">
                <a:solidFill>
                  <a:schemeClr val="dk1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, Ack=</a:t>
            </a:r>
            <a:r>
              <a:rPr b="1" lang="es" sz="1000">
                <a:solidFill>
                  <a:schemeClr val="dk1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2001</a:t>
            </a:r>
            <a:endParaRPr b="1" sz="1000">
              <a:solidFill>
                <a:srgbClr val="38761D"/>
              </a:solidFill>
              <a:highlight>
                <a:srgbClr val="FFE5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9. C→S: PSH-ACK, Seq=</a:t>
            </a:r>
            <a:r>
              <a:rPr b="1"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3801</a:t>
            </a:r>
            <a:r>
              <a:rPr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, Ack=</a:t>
            </a:r>
            <a:r>
              <a:rPr b="1"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8001</a:t>
            </a:r>
            <a:r>
              <a:rPr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,</a:t>
            </a:r>
            <a:r>
              <a:rPr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 Len=</a:t>
            </a:r>
            <a:r>
              <a:rPr b="1"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1400</a:t>
            </a:r>
            <a:endParaRPr b="1" sz="1000">
              <a:solidFill>
                <a:schemeClr val="dk1"/>
              </a:solidFill>
              <a:highlight>
                <a:srgbClr val="B6D7A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10. S→C: ACK, Seq=</a:t>
            </a:r>
            <a:r>
              <a:rPr b="1" lang="es" sz="1000">
                <a:solidFill>
                  <a:schemeClr val="dk1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8001</a:t>
            </a:r>
            <a:r>
              <a:rPr lang="es" sz="1000">
                <a:solidFill>
                  <a:schemeClr val="dk1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, Ack=</a:t>
            </a:r>
            <a:r>
              <a:rPr b="1" lang="es" sz="1000">
                <a:solidFill>
                  <a:schemeClr val="dk1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2001</a:t>
            </a:r>
            <a:endParaRPr b="1" sz="1000">
              <a:solidFill>
                <a:srgbClr val="38761D"/>
              </a:solidFill>
              <a:highlight>
                <a:srgbClr val="FFE5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11. C→S: PSH-ACK, Seq=</a:t>
            </a:r>
            <a:r>
              <a:rPr b="1"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5201</a:t>
            </a:r>
            <a:r>
              <a:rPr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, Ack=</a:t>
            </a:r>
            <a:r>
              <a:rPr b="1"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8001</a:t>
            </a:r>
            <a:r>
              <a:rPr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, Len=</a:t>
            </a:r>
            <a:r>
              <a:rPr b="1"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1400</a:t>
            </a:r>
            <a:endParaRPr b="1" sz="1000">
              <a:solidFill>
                <a:schemeClr val="dk1"/>
              </a:solidFill>
              <a:highlight>
                <a:srgbClr val="B6D7A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9144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12. S→C: ACK, Seq=</a:t>
            </a:r>
            <a:r>
              <a:rPr b="1" lang="es" sz="1000">
                <a:solidFill>
                  <a:schemeClr val="dk1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8001</a:t>
            </a:r>
            <a:r>
              <a:rPr lang="es" sz="1000">
                <a:solidFill>
                  <a:schemeClr val="dk1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, Ack=</a:t>
            </a:r>
            <a:r>
              <a:rPr b="1" lang="es" sz="1000">
                <a:solidFill>
                  <a:schemeClr val="dk1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2001</a:t>
            </a:r>
            <a:endParaRPr b="1" sz="1000">
              <a:solidFill>
                <a:srgbClr val="38761D"/>
              </a:solidFill>
              <a:highlight>
                <a:srgbClr val="FFE5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13. C→S: PSH-ACK, Seq=</a:t>
            </a:r>
            <a:r>
              <a:rPr b="1"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2001</a:t>
            </a:r>
            <a:r>
              <a:rPr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, Ack=</a:t>
            </a:r>
            <a:r>
              <a:rPr b="1"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8001</a:t>
            </a:r>
            <a:r>
              <a:rPr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, Len=</a:t>
            </a:r>
            <a:r>
              <a:rPr b="1" lang="es" sz="1000">
                <a:solidFill>
                  <a:schemeClr val="dk1"/>
                </a:solidFill>
                <a:highlight>
                  <a:srgbClr val="B6D7A8"/>
                </a:highlight>
                <a:latin typeface="Consolas"/>
                <a:ea typeface="Consolas"/>
                <a:cs typeface="Consolas"/>
                <a:sym typeface="Consolas"/>
              </a:rPr>
              <a:t>1400</a:t>
            </a:r>
            <a:endParaRPr b="1" sz="1000">
              <a:solidFill>
                <a:srgbClr val="38761D"/>
              </a:solidFill>
              <a:highlight>
                <a:srgbClr val="B6D7A8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45720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chemeClr val="dk1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14. S→C: ACK, Seq=</a:t>
            </a:r>
            <a:r>
              <a:rPr b="1" lang="es" sz="1000">
                <a:solidFill>
                  <a:schemeClr val="dk1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8001</a:t>
            </a:r>
            <a:r>
              <a:rPr lang="es" sz="1000">
                <a:solidFill>
                  <a:schemeClr val="dk1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, Ack=</a:t>
            </a:r>
            <a:r>
              <a:rPr b="1" lang="es" sz="1000">
                <a:solidFill>
                  <a:schemeClr val="dk1"/>
                </a:solidFill>
                <a:highlight>
                  <a:srgbClr val="FFE599"/>
                </a:highlight>
                <a:latin typeface="Consolas"/>
                <a:ea typeface="Consolas"/>
                <a:cs typeface="Consolas"/>
                <a:sym typeface="Consolas"/>
              </a:rPr>
              <a:t>6601</a:t>
            </a:r>
            <a:endParaRPr b="1" sz="1000">
              <a:solidFill>
                <a:schemeClr val="dk1"/>
              </a:solidFill>
              <a:highlight>
                <a:srgbClr val="FFE599"/>
              </a:highlight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arenR"/>
            </a:pPr>
            <a:r>
              <a:rPr lang="es" sz="1100">
                <a:solidFill>
                  <a:schemeClr val="dk1"/>
                </a:solidFill>
              </a:rPr>
              <a:t>Indique cuáles son los ISN de cliente y servidor. ¿Qué representa el campo </a:t>
            </a:r>
            <a:r>
              <a:rPr lang="es" sz="1100">
                <a:solidFill>
                  <a:schemeClr val="dk1"/>
                </a:solidFill>
              </a:rPr>
              <a:t>MSS</a:t>
            </a:r>
            <a:r>
              <a:rPr lang="es" sz="1100">
                <a:solidFill>
                  <a:schemeClr val="dk1"/>
                </a:solidFill>
              </a:rPr>
              <a:t>?</a:t>
            </a:r>
            <a:endParaRPr sz="1100">
              <a:solidFill>
                <a:schemeClr val="dk1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arenR"/>
            </a:pPr>
            <a:r>
              <a:rPr lang="es" sz="1100">
                <a:solidFill>
                  <a:schemeClr val="dk1"/>
                </a:solidFill>
              </a:rPr>
              <a:t>Indique qué situación observa. Señale las líneas afectadas y qué se representan en cada </a:t>
            </a:r>
            <a:r>
              <a:rPr lang="es" sz="1100">
                <a:solidFill>
                  <a:schemeClr val="dk1"/>
                </a:solidFill>
              </a:rPr>
              <a:t>una</a:t>
            </a:r>
            <a:r>
              <a:rPr lang="es" sz="1100">
                <a:solidFill>
                  <a:schemeClr val="dk1"/>
                </a:solidFill>
              </a:rPr>
              <a:t>.</a:t>
            </a:r>
            <a:endParaRPr b="1" sz="1100">
              <a:solidFill>
                <a:srgbClr val="38761D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arenR"/>
            </a:pPr>
            <a:r>
              <a:rPr lang="es" sz="1100">
                <a:solidFill>
                  <a:schemeClr val="dk1"/>
                </a:solidFill>
              </a:rPr>
              <a:t>¿Qué mecanismo de control actúa bajo este escenario?</a:t>
            </a:r>
            <a:endParaRPr b="1" sz="1100">
              <a:solidFill>
                <a:srgbClr val="38761D"/>
              </a:solidFill>
            </a:endParaRPr>
          </a:p>
          <a:p>
            <a:pPr indent="-298450" lvl="0" marL="45720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lphaLcParenR"/>
            </a:pPr>
            <a:r>
              <a:rPr lang="es" sz="1100">
                <a:solidFill>
                  <a:schemeClr val="dk1"/>
                </a:solidFill>
              </a:rPr>
              <a:t>¿Por qué en la línea 14, el servidor setea el valor de Ack=6601 cuando previamente el valor era </a:t>
            </a:r>
            <a:r>
              <a:rPr lang="es" sz="1100">
                <a:solidFill>
                  <a:schemeClr val="dk1"/>
                </a:solidFill>
              </a:rPr>
              <a:t>2001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